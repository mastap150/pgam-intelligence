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64748B"/>
                </a:solidFill>
                <a:latin typeface="Calibri"/>
              </a:rPr>
              <a:t>Video completion rate (%) — PGAM vs IAB OLV benchmark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PGAM – Amazon Q2</c:v>
                </c:pt>
              </c:strCache>
            </c:strRef>
          </c:tx>
          <c:spPr>
            <a:solidFill>
              <a:srgbClr val="F2A9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B1E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Week 1</c:v>
                  </c:pt>
                  <c:pt idx="1">
                    <c:v>Full flight to date</c:v>
                  </c:pt>
                  <c:pt idx="2">
                    <c:v>Week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64.6</c:v>
                </c:pt>
                <c:pt idx="1">
                  <c:v>66.5</c:v>
                </c:pt>
                <c:pt idx="2">
                  <c:v>70.6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IAB OLV benchmark (avg)</c:v>
                </c:pt>
              </c:strCache>
            </c:strRef>
          </c:tx>
          <c:spPr>
            <a:solidFill>
              <a:srgbClr val="CADCF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B1E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Week 1</c:v>
                  </c:pt>
                  <c:pt idx="1">
                    <c:v>Full flight to date</c:v>
                  </c:pt>
                  <c:pt idx="2">
                    <c:v>Week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64</c:v>
                </c:pt>
                <c:pt idx="1">
                  <c:v>64</c:v>
                </c:pt>
                <c:pt idx="2">
                  <c:v>64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0B1E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B1E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  <c:min val="55"/>
        </c:scaling>
        <c:delete val="0"/>
        <c:axPos val="l"/>
        <c:majorGridlines>
          <c:spPr>
            <a:ln w="6350" cap="flat">
              <a:solidFill>
                <a:srgbClr val="D5DC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0B1E3F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Daily completion rate (%)</c:v>
                </c:pt>
              </c:strCache>
            </c:strRef>
          </c:tx>
          <c:spPr>
            <a:solidFill>
              <a:srgbClr val="F2A900"/>
            </a:solidFill>
            <a:ln w="38100" cap="flat">
              <a:solidFill>
                <a:srgbClr val="F2A9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F2A900"/>
              </a:solidFill>
              <a:ln w="9525" cap="flat">
                <a:solidFill>
                  <a:srgbClr val="F2A9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Sheet1!$A$2:$A$23</c:f>
              <c:multiLvlStrCache>
                <c:ptCount val="22"/>
                <c:lvl>
                  <c:pt idx="0">
                    <c:v>5/13</c:v>
                  </c:pt>
                  <c:pt idx="1">
                    <c:v/>
                  </c:pt>
                  <c:pt idx="2">
                    <c:v/>
                  </c:pt>
                  <c:pt idx="3">
                    <c:v>5/16</c:v>
                  </c:pt>
                  <c:pt idx="4">
                    <c:v/>
                  </c:pt>
                  <c:pt idx="5">
                    <c:v/>
                  </c:pt>
                  <c:pt idx="6">
                    <c:v>5/19</c:v>
                  </c:pt>
                  <c:pt idx="7">
                    <c:v/>
                  </c:pt>
                  <c:pt idx="8">
                    <c:v/>
                  </c:pt>
                  <c:pt idx="9">
                    <c:v>5/22</c:v>
                  </c:pt>
                  <c:pt idx="10">
                    <c:v/>
                  </c:pt>
                  <c:pt idx="11">
                    <c:v/>
                  </c:pt>
                  <c:pt idx="12">
                    <c:v>5/25</c:v>
                  </c:pt>
                  <c:pt idx="13">
                    <c:v/>
                  </c:pt>
                  <c:pt idx="14">
                    <c:v/>
                  </c:pt>
                  <c:pt idx="15">
                    <c:v>5/28</c:v>
                  </c:pt>
                  <c:pt idx="16">
                    <c:v/>
                  </c:pt>
                  <c:pt idx="17">
                    <c:v/>
                  </c:pt>
                  <c:pt idx="18">
                    <c:v>5/31</c:v>
                  </c:pt>
                  <c:pt idx="19">
                    <c:v/>
                  </c:pt>
                  <c:pt idx="20">
                    <c:v/>
                  </c:pt>
                  <c:pt idx="21">
                    <c:v>6/3</c:v>
                  </c:pt>
                </c:lvl>
              </c:multiLvlStrCache>
            </c:multiLvl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67.2</c:v>
                </c:pt>
                <c:pt idx="1">
                  <c:v>64.6</c:v>
                </c:pt>
                <c:pt idx="2">
                  <c:v>62.4</c:v>
                </c:pt>
                <c:pt idx="3">
                  <c:v>62.3</c:v>
                </c:pt>
                <c:pt idx="4">
                  <c:v>64.3</c:v>
                </c:pt>
                <c:pt idx="5">
                  <c:v>66</c:v>
                </c:pt>
                <c:pt idx="6">
                  <c:v>69.4</c:v>
                </c:pt>
                <c:pt idx="7">
                  <c:v>61</c:v>
                </c:pt>
                <c:pt idx="8">
                  <c:v>63.4</c:v>
                </c:pt>
                <c:pt idx="9">
                  <c:v>65</c:v>
                </c:pt>
                <c:pt idx="10">
                  <c:v>63.6</c:v>
                </c:pt>
                <c:pt idx="11">
                  <c:v>63.1</c:v>
                </c:pt>
                <c:pt idx="12">
                  <c:v>63.2</c:v>
                </c:pt>
                <c:pt idx="13">
                  <c:v>65</c:v>
                </c:pt>
                <c:pt idx="14">
                  <c:v>65.6</c:v>
                </c:pt>
                <c:pt idx="15">
                  <c:v>64.9</c:v>
                </c:pt>
                <c:pt idx="16">
                  <c:v>69.4</c:v>
                </c:pt>
                <c:pt idx="17">
                  <c:v>73.2</c:v>
                </c:pt>
                <c:pt idx="18">
                  <c:v>72.2</c:v>
                </c:pt>
                <c:pt idx="19">
                  <c:v>71.1</c:v>
                </c:pt>
                <c:pt idx="20">
                  <c:v>67.4</c:v>
                </c:pt>
                <c:pt idx="21">
                  <c:v>69.3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55"/>
        </c:scaling>
        <c:delete val="0"/>
        <c:axPos val="l"/>
        <c:majorGridlines>
          <c:spPr>
            <a:ln w="6350" cap="flat">
              <a:solidFill>
                <a:srgbClr val="D5DC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76895" y="0"/>
            <a:ext cx="4114800" cy="6858000"/>
          </a:xfrm>
          <a:prstGeom prst="rect">
            <a:avLst/>
          </a:prstGeom>
          <a:solidFill>
            <a:srgbClr val="0B1E3F"/>
          </a:solidFill>
          <a:ln/>
        </p:spPr>
      </p:sp>
      <p:sp>
        <p:nvSpPr>
          <p:cNvPr id="3" name="Shape 1"/>
          <p:cNvSpPr/>
          <p:nvPr/>
        </p:nvSpPr>
        <p:spPr>
          <a:xfrm>
            <a:off x="8076895" y="0"/>
            <a:ext cx="73152" cy="685800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PGAM MEDIA  ·  CTV + OLV DSP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772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Brand-Safe OLV at</a:t>
            </a:r>
            <a:endParaRPr lang="en-US" sz="5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Premium Scale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7315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PGAM delivered 3.94M premium impressions and a 66.5% video completion rate for Amazon Business — above the IAB OLV benchmark.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351215" y="14630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8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351215" y="1828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Amazon Business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351215" y="23774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  ·  Online Video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351215" y="3200400"/>
            <a:ext cx="3383280" cy="822960"/>
          </a:xfrm>
          <a:prstGeom prst="rect">
            <a:avLst/>
          </a:prstGeom>
          <a:solidFill>
            <a:srgbClr val="071530"/>
          </a:solidFill>
          <a:ln w="6350">
            <a:solidFill>
              <a:srgbClr val="F2A9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42655" y="329184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A9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3.94M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9997135" y="329184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impressions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351215" y="4160520"/>
            <a:ext cx="3383280" cy="822960"/>
          </a:xfrm>
          <a:prstGeom prst="rect">
            <a:avLst/>
          </a:prstGeom>
          <a:solidFill>
            <a:srgbClr val="071530"/>
          </a:solidFill>
          <a:ln w="6350">
            <a:solidFill>
              <a:srgbClr val="F2A9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42655" y="425196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A9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66.5%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997135" y="425196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completion rate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351215" y="5120640"/>
            <a:ext cx="3383280" cy="822960"/>
          </a:xfrm>
          <a:prstGeom prst="rect">
            <a:avLst/>
          </a:prstGeom>
          <a:solidFill>
            <a:srgbClr val="071530"/>
          </a:solidFill>
          <a:ln w="6350">
            <a:solidFill>
              <a:srgbClr val="F2A9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42655" y="521208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A9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9997135" y="521208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Vetted publishers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6217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pgammedia.com  ·  Prepared June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502920" cy="36576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results, 22 days into flight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274320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645920"/>
            <a:ext cx="2743200" cy="54864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87452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B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3.94M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640080" y="2788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Impressions delivered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31272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OLV inventory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19272" y="1645920"/>
            <a:ext cx="274320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19272" y="1645920"/>
            <a:ext cx="2743200" cy="54864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12" name="Text 10"/>
          <p:cNvSpPr/>
          <p:nvPr/>
        </p:nvSpPr>
        <p:spPr>
          <a:xfrm>
            <a:off x="3502152" y="187452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B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66.5%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3502152" y="2788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completion rate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02152" y="31272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~64% IAB OLV benchmark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81344" y="1645920"/>
            <a:ext cx="274320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81344" y="1645920"/>
            <a:ext cx="2743200" cy="54864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64224" y="187452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B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60.5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6364224" y="2788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PGAM Attention score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64224" y="31272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Proprietary, TFN-calibrated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043416" y="1645920"/>
            <a:ext cx="274320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043416" y="1645920"/>
            <a:ext cx="2743200" cy="54864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22" name="Text 20"/>
          <p:cNvSpPr/>
          <p:nvPr/>
        </p:nvSpPr>
        <p:spPr>
          <a:xfrm>
            <a:off x="9226296" y="187452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B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9226296" y="2788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publishers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226296" y="31272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domain-allowlisted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931920"/>
            <a:ext cx="11277295" cy="2286000"/>
          </a:xfrm>
          <a:prstGeom prst="rect">
            <a:avLst/>
          </a:prstGeom>
          <a:solidFill>
            <a:srgbClr val="0B1E3F"/>
          </a:solidFill>
          <a:ln/>
        </p:spPr>
      </p:sp>
      <p:sp>
        <p:nvSpPr>
          <p:cNvPr id="26" name="Shape 24"/>
          <p:cNvSpPr/>
          <p:nvPr/>
        </p:nvSpPr>
        <p:spPr>
          <a:xfrm>
            <a:off x="457200" y="3931920"/>
            <a:ext cx="91440" cy="228600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" y="4114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7240" y="4480560"/>
            <a:ext cx="106372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Business' Q2 OLV campaign is pacing on plan and over-indexing on completion. Completion rate climbed from the mid 60s in week one to the low 70s by week three as PGAM's optimization moved spend toward high-attention placements. Forty-eight allowlisted publishers, zero MFA leakage, and a full-funnel mid-funnel layer launched on June 3.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D5DC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PGAM MEDIA  ·  Case Study  ·  Amazon Business OLV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820095" y="652881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502920" cy="36576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brand, the audience, the ask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5029200" cy="4480560"/>
          </a:xfrm>
          <a:prstGeom prst="rect">
            <a:avLst/>
          </a:prstGeom>
          <a:solidFill>
            <a:srgbClr val="FFFFFF"/>
          </a:solidFill>
          <a:ln w="6350">
            <a:solidFill>
              <a:srgbClr val="D5DC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45920"/>
            <a:ext cx="91440" cy="4480560"/>
          </a:xfrm>
          <a:prstGeom prst="rect">
            <a:avLst/>
          </a:prstGeom>
          <a:solidFill>
            <a:srgbClr val="0B1E3F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BRAND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Amazon Business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77240" y="2788920"/>
            <a:ext cx="4572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Amazon's B2B procurement platform serving 6M+ business customers — from sole proprietors to Fortune 500 buyers. Category leader competing for share of corporate purchasing wallets.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4206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4526280"/>
            <a:ext cx="4572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SMB owners, office managers, and procurement decision-makers — engaged on business, finance, and tech editorial.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760720" y="1645920"/>
            <a:ext cx="5943600" cy="4480560"/>
          </a:xfrm>
          <a:prstGeom prst="rect">
            <a:avLst/>
          </a:prstGeom>
          <a:solidFill>
            <a:srgbClr val="0B1E3F"/>
          </a:solidFill>
          <a:ln/>
        </p:spPr>
      </p:sp>
      <p:sp>
        <p:nvSpPr>
          <p:cNvPr id="13" name="Text 11"/>
          <p:cNvSpPr/>
          <p:nvPr/>
        </p:nvSpPr>
        <p:spPr>
          <a:xfrm>
            <a:off x="5989320" y="1828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89320" y="214884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Brand-safe OLV at scale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5989320" y="2926080"/>
            <a:ext cx="164592" cy="164592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6" name="Text 14"/>
          <p:cNvSpPr/>
          <p:nvPr/>
        </p:nvSpPr>
        <p:spPr>
          <a:xfrm>
            <a:off x="6263640" y="28803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completion, not clicks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63640" y="31546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 VTR and viewable completion over CPC noise.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989320" y="3703320"/>
            <a:ext cx="164592" cy="164592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9" name="Text 17"/>
          <p:cNvSpPr/>
          <p:nvPr/>
        </p:nvSpPr>
        <p:spPr>
          <a:xfrm>
            <a:off x="6263640" y="36576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business editorial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263640" y="393192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Adjacent to business, finance, and decision-maker content.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89320" y="4480560"/>
            <a:ext cx="164592" cy="164592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22" name="Text 20"/>
          <p:cNvSpPr/>
          <p:nvPr/>
        </p:nvSpPr>
        <p:spPr>
          <a:xfrm>
            <a:off x="6263640" y="44348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transparency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263640" y="47091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domain disclosed. No MFA, no laundered supply.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89320" y="5257800"/>
            <a:ext cx="164592" cy="164592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25" name="Text 23"/>
          <p:cNvSpPr/>
          <p:nvPr/>
        </p:nvSpPr>
        <p:spPr>
          <a:xfrm>
            <a:off x="6263640" y="5212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full-funnel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263640" y="54864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Upper-funnel OLV today; mid-funnel layer next.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D5DC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PGAM MEDIA  ·  Case Study  ·  Amazon Business OLV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820095" y="652881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502920" cy="36576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APPROACH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pillars behind the result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2743200" cy="39319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737360"/>
            <a:ext cx="2743200" cy="1188720"/>
          </a:xfrm>
          <a:prstGeom prst="rect">
            <a:avLst/>
          </a:prstGeom>
          <a:solidFill>
            <a:srgbClr val="0B1E3F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8745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A9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Curated premium supply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3108960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ClearLine seats into business and finance editorial. Domain allowlists, not contextual scrapes. No MFA, no incentivized traffic.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19272" y="1737360"/>
            <a:ext cx="2743200" cy="39319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19272" y="1737360"/>
            <a:ext cx="2743200" cy="1188720"/>
          </a:xfrm>
          <a:prstGeom prst="rect">
            <a:avLst/>
          </a:prstGeom>
          <a:solidFill>
            <a:srgbClr val="0B1E3F"/>
          </a:solidFill>
          <a:ln/>
        </p:spPr>
      </p:sp>
      <p:sp>
        <p:nvSpPr>
          <p:cNvPr id="12" name="Text 10"/>
          <p:cNvSpPr/>
          <p:nvPr/>
        </p:nvSpPr>
        <p:spPr>
          <a:xfrm>
            <a:off x="3502152" y="18745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A9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502152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PGAM Attention Engine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02152" y="3108960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Proprietary attention scoring on every impression — calibrated against real tracked-phone-number outcomes, not vendor black boxes.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81344" y="1737360"/>
            <a:ext cx="2743200" cy="39319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81344" y="1737360"/>
            <a:ext cx="2743200" cy="1188720"/>
          </a:xfrm>
          <a:prstGeom prst="rect">
            <a:avLst/>
          </a:prstGeom>
          <a:solidFill>
            <a:srgbClr val="0B1E3F"/>
          </a:solidFill>
          <a:ln/>
        </p:spPr>
      </p:sp>
      <p:sp>
        <p:nvSpPr>
          <p:cNvPr id="17" name="Text 15"/>
          <p:cNvSpPr/>
          <p:nvPr/>
        </p:nvSpPr>
        <p:spPr>
          <a:xfrm>
            <a:off x="6364224" y="18745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A9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364224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Full-funnel attribution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64224" y="3108960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TFN-matched call attribution, CAPI server-to-server, and household-identity bridge. Measure what the campaign actually drove.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043416" y="1737360"/>
            <a:ext cx="2743200" cy="39319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043416" y="1737360"/>
            <a:ext cx="2743200" cy="1188720"/>
          </a:xfrm>
          <a:prstGeom prst="rect">
            <a:avLst/>
          </a:prstGeom>
          <a:solidFill>
            <a:srgbClr val="0B1E3F"/>
          </a:solidFill>
          <a:ln/>
        </p:spPr>
      </p:sp>
      <p:sp>
        <p:nvSpPr>
          <p:cNvPr id="22" name="Text 20"/>
          <p:cNvSpPr/>
          <p:nvPr/>
        </p:nvSpPr>
        <p:spPr>
          <a:xfrm>
            <a:off x="9226296" y="18745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A9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9226296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Margin-free transparency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226296" y="3108960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see the publishers, the rates, the viewability, the attention. No supply-path arbitrage. Every dollar accountable.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D5DC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PGAM MEDIA  ·  Case Study  ·  Amazon Business OLV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820095" y="652881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502920" cy="36576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Measured against industry benchmarks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737360"/>
          <a:ext cx="74980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183880" y="1737360"/>
            <a:ext cx="3520440" cy="4114800"/>
          </a:xfrm>
          <a:prstGeom prst="rect">
            <a:avLst/>
          </a:prstGeom>
          <a:solidFill>
            <a:srgbClr val="0B1E3F"/>
          </a:solidFill>
          <a:ln/>
        </p:spPr>
      </p:sp>
      <p:sp>
        <p:nvSpPr>
          <p:cNvPr id="7" name="Text 4"/>
          <p:cNvSpPr/>
          <p:nvPr/>
        </p:nvSpPr>
        <p:spPr>
          <a:xfrm>
            <a:off x="8366760" y="18745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THIS WAY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366760" y="22860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A9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+2.5 pp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8366760" y="28346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IAB OLV completion benchmark on full-flight average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366760" y="34290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A9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+6.6 pp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366760" y="39776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benchmark by week 3 as optimization compounded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366760" y="45720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A9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60.5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366760" y="51206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PGAM Attention score (0–100)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598932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IAB OLV benchmark: industry average ~64% completion for in-stream desktop+CTV video.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D5DCE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PGAM MEDIA  ·  Case Study  ·  Amazon Business OLV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0820095" y="652881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502920" cy="36576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Completion rate climbed as PGAM tuned supply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737360"/>
          <a:ext cx="74980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183880" y="1737360"/>
            <a:ext cx="35204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CE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183880" y="1737360"/>
            <a:ext cx="91440" cy="438912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0" y="18745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WEEK-OVER-WEEK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412480" y="21945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 rate moved up as low-attention publishers were de-weighted.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412480" y="3200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784080" y="3200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~64.6%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412480" y="3794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784080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~64.8%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412480" y="4389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784080" y="4389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~70.6%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8412480" y="5074920"/>
            <a:ext cx="3108960" cy="0"/>
          </a:xfrm>
          <a:prstGeom prst="line">
            <a:avLst/>
          </a:prstGeom>
          <a:noFill/>
          <a:ln w="9525">
            <a:solidFill>
              <a:srgbClr val="D5DCE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412480" y="52120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9D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Δ +6.0 pp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8412480" y="5669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→ Week 3 completion lift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D5DCE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PGAM MEDIA  ·  Case Study  ·  Amazon Business OLV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0820095" y="652881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502920" cy="36576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QUALITY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 8 publishers — real domains, real attention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7772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1280160"/>
                <a:gridCol w="118872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Publisher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Impressions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Attention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gizmodo.com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2,263,711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$15,144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forbes.com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600,096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$3,966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neoseeker.com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430,611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$2,902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stocktwits.com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319,256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stockcharts.com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153,247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$1,020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interestingengineering.com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92,464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barchart.com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23,611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ibtimes.com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19,642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C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503920" y="1737360"/>
            <a:ext cx="3200400" cy="4389120"/>
          </a:xfrm>
          <a:prstGeom prst="rect">
            <a:avLst/>
          </a:prstGeom>
          <a:solidFill>
            <a:srgbClr val="0B1E3F"/>
          </a:solidFill>
          <a:ln/>
        </p:spPr>
      </p:sp>
      <p:sp>
        <p:nvSpPr>
          <p:cNvPr id="7" name="Text 4"/>
          <p:cNvSpPr/>
          <p:nvPr/>
        </p:nvSpPr>
        <p:spPr>
          <a:xfrm>
            <a:off x="8686800" y="18745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MORE PUBLISHERS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686800" y="22860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 total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8686800" y="2926080"/>
            <a:ext cx="2926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tail spans business news, finance, and engineering editorial. Every domain disclosed at the impression level — no laundered supply paths.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686800" y="4937760"/>
            <a:ext cx="2743200" cy="0"/>
          </a:xfrm>
          <a:prstGeom prst="line">
            <a:avLst/>
          </a:prstGeom>
          <a:noFill/>
          <a:ln w="12700">
            <a:solidFill>
              <a:srgbClr val="F2A90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0" y="50749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MFA. Zero subdomain spoofing.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D5DC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PGAM MEDIA  ·  Case Study  ·  Amazon Business OLV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820095" y="652881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502920" cy="36576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DIFFERENTIATOR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PGAM Attention Engine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5943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isn't a vendor score we license. We score every impression ourselves — using ad-server signals (viewability, completion, audibility, device class) calibrated against real outcomes from tracked phone numbers on advertiser landing pages.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5204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3950208"/>
            <a:ext cx="146304" cy="146304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8862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Optimizes toward what actually moves the business, not vanity metrics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4453128"/>
            <a:ext cx="146304" cy="146304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43891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of any single SSP — we own the scoring stack end-to-end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956048"/>
            <a:ext cx="146304" cy="146304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48920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TFN-calibrated so the score correlates with real human response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5458968"/>
            <a:ext cx="146304" cy="146304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539496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parallel with Athena 'PGAM Attention' for cross-validation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49440" y="1737360"/>
            <a:ext cx="4754880" cy="4389120"/>
          </a:xfrm>
          <a:prstGeom prst="rect">
            <a:avLst/>
          </a:prstGeom>
          <a:solidFill>
            <a:srgbClr val="0B1E3F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0" y="196596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9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SCORE = (B + D) × C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132320" y="246888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Postgres-native v1 scorer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132320" y="292608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818120" y="29443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818120" y="321868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Viewability + audible-completion lift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32320" y="388620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0" y="3886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818120" y="39044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818120" y="417880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device class + connection quality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132320" y="484632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27" name="Text 25"/>
          <p:cNvSpPr/>
          <p:nvPr/>
        </p:nvSpPr>
        <p:spPr>
          <a:xfrm>
            <a:off x="7132320" y="4846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7818120" y="4864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818120" y="51389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TFN-matched human-response factor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D5DC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PGAM MEDIA  ·  Case Study  ·  Amazon Business OLV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820095" y="652881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502920" cy="36576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FUNNEL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Brand awareness layered with mid-funnel intent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066648" y="1508760"/>
            <a:ext cx="1005840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66648" y="1508760"/>
            <a:ext cx="109728" cy="137160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7" name="Text 5"/>
          <p:cNvSpPr/>
          <p:nvPr/>
        </p:nvSpPr>
        <p:spPr>
          <a:xfrm>
            <a:off x="1340968" y="16184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FUNNEL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340968" y="18745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Q2 OLV — Brand awareness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40968" y="228600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3.94M impressions delivered, 66.5% completion rate, 48 premium publishers.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473288" y="23774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 ·  $65.8K  ·  May 13 → Jun 7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981048" y="3044952"/>
            <a:ext cx="822960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981048" y="3044952"/>
            <a:ext cx="109728" cy="13716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2255368" y="3154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 FUNNEL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55368" y="34107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Q2 Mid-Funnel — Consideration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255368" y="3822192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Retargets upper-funnel completers + lookalike business decision-makers.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558888" y="39136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 ·  $30K  ·  Jun 3 → Jul 27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895448" y="4581144"/>
            <a:ext cx="640080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895448" y="4581144"/>
            <a:ext cx="109728" cy="1371600"/>
          </a:xfrm>
          <a:prstGeom prst="rect">
            <a:avLst/>
          </a:prstGeom>
          <a:solidFill>
            <a:srgbClr val="E6EEFC"/>
          </a:solidFill>
          <a:ln/>
        </p:spPr>
      </p:sp>
      <p:sp>
        <p:nvSpPr>
          <p:cNvPr id="19" name="Text 17"/>
          <p:cNvSpPr/>
          <p:nvPr/>
        </p:nvSpPr>
        <p:spPr>
          <a:xfrm>
            <a:off x="3169768" y="46908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FUNNEL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169768" y="4946904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Conversion / call attribution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169768" y="5358384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B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PGAM CTV Attribution Stack matches landing-page calls and CAPI events back to impression.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644488" y="54498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LIVE  ·  TFN + CAPI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6172200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Full-funnel architecture means every upper-funnel completion has somewhere to go. Mid-funnel launched June 3 to absorb the audience PGAM just paid to reach.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D5DC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PGAM MEDIA  ·  Case Study  ·  Amazon Business OLV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820095" y="652881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502920" cy="36576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PGAM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 get that you don't anywhere else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3703320" cy="2194560"/>
          </a:xfrm>
          <a:prstGeom prst="rect">
            <a:avLst/>
          </a:prstGeom>
          <a:solidFill>
            <a:srgbClr val="0B1E3F"/>
          </a:solidFill>
          <a:ln w="6350">
            <a:solidFill>
              <a:srgbClr val="F2A9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965960"/>
            <a:ext cx="502920" cy="50292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26060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 ClearLine supply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306324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PGAM holds the seat. No reseller hops. Lower cost, full transparency.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1691640"/>
            <a:ext cx="3703320" cy="2194560"/>
          </a:xfrm>
          <a:prstGeom prst="rect">
            <a:avLst/>
          </a:prstGeom>
          <a:solidFill>
            <a:srgbClr val="0B1E3F"/>
          </a:solidFill>
          <a:ln w="6350">
            <a:solidFill>
              <a:srgbClr val="F2A9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7720" y="1965960"/>
            <a:ext cx="502920" cy="50292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17720" y="26060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Own attention stack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17720" y="306324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built in-house. Calibrated against real call outcomes, not vendor scores.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0" y="1691640"/>
            <a:ext cx="3703320" cy="2194560"/>
          </a:xfrm>
          <a:prstGeom prst="rect">
            <a:avLst/>
          </a:prstGeom>
          <a:solidFill>
            <a:srgbClr val="0B1E3F"/>
          </a:solidFill>
          <a:ln w="6350">
            <a:solidFill>
              <a:srgbClr val="F2A9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0" y="1965960"/>
            <a:ext cx="502920" cy="50292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7" name="Text 15"/>
          <p:cNvSpPr/>
          <p:nvPr/>
        </p:nvSpPr>
        <p:spPr>
          <a:xfrm>
            <a:off x="850392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503920" y="26060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attribution wired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503920" y="306324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TFN-matched calls, CAPI server-to-server, household identity bridge — shipped.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114800"/>
            <a:ext cx="3703320" cy="2194560"/>
          </a:xfrm>
          <a:prstGeom prst="rect">
            <a:avLst/>
          </a:prstGeom>
          <a:solidFill>
            <a:srgbClr val="0B1E3F"/>
          </a:solidFill>
          <a:ln w="6350">
            <a:solidFill>
              <a:srgbClr val="F2A9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4389120"/>
            <a:ext cx="502920" cy="50292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4389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31520" y="50292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Brand safety by allowlist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31520" y="548640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allowlists, not contextual scrapes. Every publisher disclosed at impression level.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43400" y="4114800"/>
            <a:ext cx="3703320" cy="2194560"/>
          </a:xfrm>
          <a:prstGeom prst="rect">
            <a:avLst/>
          </a:prstGeom>
          <a:solidFill>
            <a:srgbClr val="0B1E3F"/>
          </a:solidFill>
          <a:ln w="6350">
            <a:solidFill>
              <a:srgbClr val="F2A9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17720" y="4389120"/>
            <a:ext cx="502920" cy="50292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27" name="Text 25"/>
          <p:cNvSpPr/>
          <p:nvPr/>
        </p:nvSpPr>
        <p:spPr>
          <a:xfrm>
            <a:off x="4617720" y="4389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617720" y="50292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Margin transparency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617720" y="548640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see media cost vs gross. No supply-path arbitrage hidden in your CPM.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229600" y="4114800"/>
            <a:ext cx="3703320" cy="2194560"/>
          </a:xfrm>
          <a:prstGeom prst="rect">
            <a:avLst/>
          </a:prstGeom>
          <a:solidFill>
            <a:srgbClr val="0B1E3F"/>
          </a:solidFill>
          <a:ln w="6350">
            <a:solidFill>
              <a:srgbClr val="F2A9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03920" y="4389120"/>
            <a:ext cx="502920" cy="50292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2" name="Text 30"/>
          <p:cNvSpPr/>
          <p:nvPr/>
        </p:nvSpPr>
        <p:spPr>
          <a:xfrm>
            <a:off x="8503920" y="4389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8503920" y="50292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Pace + optimize in flight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503920" y="548640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agent watches pacing, frequency, attention. Levers move daily, not monthly.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PGAM MEDIA  ·  Case Study  ·  Amazon Business OLV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820095" y="652881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463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BUILD YOURS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9728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Premium OLV.</a:t>
            </a:r>
            <a:endParaRPr lang="en-US" sz="5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attention.</a:t>
            </a:r>
            <a:endParaRPr lang="en-US" sz="5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transparency.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914400" y="4434840"/>
            <a:ext cx="9601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run a brand-awareness or full-funnel video budget and you're tired of vendor black boxes and laundered supply, we should talk.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14400" y="5577840"/>
            <a:ext cx="8686800" cy="777240"/>
          </a:xfrm>
          <a:prstGeom prst="rect">
            <a:avLst/>
          </a:prstGeom>
          <a:solidFill>
            <a:srgbClr val="0B1E3F"/>
          </a:solidFill>
          <a:ln w="6350">
            <a:solidFill>
              <a:srgbClr val="F2A9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5669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Priyesh Patel  ·  PGAM Media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priyesh@pgammedia.com  ·  pgammedia.com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545775" y="652881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PGAM Media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PGAM Case Study — Amazon Business OLV</dc:title>
  <dc:subject>PptxGenJS Presentation</dc:subject>
  <dc:creator>PGAM Media</dc:creator>
  <cp:lastModifiedBy>PGAM Media</cp:lastModifiedBy>
  <cp:revision>1</cp:revision>
  <dcterms:created xsi:type="dcterms:W3CDTF">2026-06-04T22:23:11Z</dcterms:created>
  <dcterms:modified xsi:type="dcterms:W3CDTF">2026-06-04T22:23:11Z</dcterms:modified>
</cp:coreProperties>
</file>