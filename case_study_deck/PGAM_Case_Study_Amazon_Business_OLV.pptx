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PGAM – Amazon Q2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E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Completion rate</c:v>
                  </c:pt>
                  <c:pt idx="1">
                    <c:v>Attention score (PGAM)</c:v>
                  </c:pt>
                  <c:pt idx="2">
                    <c:v>Allowlisted supply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66.5</c:v>
                </c:pt>
                <c:pt idx="1">
                  <c:v>60.5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IAB OLV benchmark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E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Completion rate</c:v>
                  </c:pt>
                  <c:pt idx="1">
                    <c:v>Attention score (PGAM)</c:v>
                  </c:pt>
                  <c:pt idx="2">
                    <c:v>Allowlisted supply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1E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E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E3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completion rate (%)</c:v>
                </c:pt>
              </c:strCache>
            </c:strRef>
          </c:tx>
          <c:spPr>
            <a:solidFill>
              <a:srgbClr val="F2A900"/>
            </a:solidFill>
            <a:ln w="38100" cap="flat">
              <a:solidFill>
                <a:srgbClr val="F2A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A900"/>
              </a:solidFill>
              <a:ln w="9525" cap="flat">
                <a:solidFill>
                  <a:srgbClr val="F2A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5/13</c:v>
                  </c:pt>
                  <c:pt idx="1">
                    <c:v/>
                  </c:pt>
                  <c:pt idx="2">
                    <c:v/>
                  </c:pt>
                  <c:pt idx="3">
                    <c:v>5/16</c:v>
                  </c:pt>
                  <c:pt idx="4">
                    <c:v/>
                  </c:pt>
                  <c:pt idx="5">
                    <c:v/>
                  </c:pt>
                  <c:pt idx="6">
                    <c:v>5/19</c:v>
                  </c:pt>
                  <c:pt idx="7">
                    <c:v/>
                  </c:pt>
                  <c:pt idx="8">
                    <c:v/>
                  </c:pt>
                  <c:pt idx="9">
                    <c:v>5/22</c:v>
                  </c:pt>
                  <c:pt idx="10">
                    <c:v/>
                  </c:pt>
                  <c:pt idx="11">
                    <c:v/>
                  </c:pt>
                  <c:pt idx="12">
                    <c:v>5/25</c:v>
                  </c:pt>
                  <c:pt idx="13">
                    <c:v/>
                  </c:pt>
                  <c:pt idx="14">
                    <c:v/>
                  </c:pt>
                  <c:pt idx="15">
                    <c:v>5/28</c:v>
                  </c:pt>
                  <c:pt idx="16">
                    <c:v/>
                  </c:pt>
                  <c:pt idx="17">
                    <c:v/>
                  </c:pt>
                  <c:pt idx="18">
                    <c:v>5/31</c:v>
                  </c:pt>
                  <c:pt idx="19">
                    <c:v/>
                  </c:pt>
                  <c:pt idx="20">
                    <c:v/>
                  </c:pt>
                  <c:pt idx="21">
                    <c:v>6/3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67.2</c:v>
                </c:pt>
                <c:pt idx="1">
                  <c:v>64.6</c:v>
                </c:pt>
                <c:pt idx="2">
                  <c:v>62.4</c:v>
                </c:pt>
                <c:pt idx="3">
                  <c:v>62.3</c:v>
                </c:pt>
                <c:pt idx="4">
                  <c:v>64.3</c:v>
                </c:pt>
                <c:pt idx="5">
                  <c:v>66</c:v>
                </c:pt>
                <c:pt idx="6">
                  <c:v>69.4</c:v>
                </c:pt>
                <c:pt idx="7">
                  <c:v>61</c:v>
                </c:pt>
                <c:pt idx="8">
                  <c:v>63.4</c:v>
                </c:pt>
                <c:pt idx="9">
                  <c:v>65</c:v>
                </c:pt>
                <c:pt idx="10">
                  <c:v>63.6</c:v>
                </c:pt>
                <c:pt idx="11">
                  <c:v>63.1</c:v>
                </c:pt>
                <c:pt idx="12">
                  <c:v>63.2</c:v>
                </c:pt>
                <c:pt idx="13">
                  <c:v>65</c:v>
                </c:pt>
                <c:pt idx="14">
                  <c:v>65.6</c:v>
                </c:pt>
                <c:pt idx="15">
                  <c:v>64.9</c:v>
                </c:pt>
                <c:pt idx="16">
                  <c:v>69.4</c:v>
                </c:pt>
                <c:pt idx="17">
                  <c:v>73.2</c:v>
                </c:pt>
                <c:pt idx="18">
                  <c:v>72.2</c:v>
                </c:pt>
                <c:pt idx="19">
                  <c:v>71.1</c:v>
                </c:pt>
                <c:pt idx="20">
                  <c:v>67.4</c:v>
                </c:pt>
                <c:pt idx="21">
                  <c:v>69.3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55"/>
        </c:scaling>
        <c:delete val="0"/>
        <c:axPos val="l"/>
        <c:majorGridlines>
          <c:spPr>
            <a:ln w="6350" cap="flat">
              <a:solidFill>
                <a:srgbClr val="D5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0"/>
            <a:ext cx="73152" cy="68580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CTV + OLV DSP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Brand-Safe OLV at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Scale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PGAM delivered 3.9M premium impressions and a 66.5% video completion rate for Amazon Business — above the IAB OLV benchmark.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51215" y="1463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51215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Business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351215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 ·  Online Video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51215" y="3200400"/>
            <a:ext cx="3383280" cy="822960"/>
          </a:xfrm>
          <a:prstGeom prst="rect">
            <a:avLst/>
          </a:prstGeom>
          <a:solidFill>
            <a:srgbClr val="07153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2655" y="32918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997135" y="3291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51215" y="4160520"/>
            <a:ext cx="3383280" cy="822960"/>
          </a:xfrm>
          <a:prstGeom prst="rect">
            <a:avLst/>
          </a:prstGeom>
          <a:solidFill>
            <a:srgbClr val="07153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2655" y="42519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997135" y="4251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51215" y="5120640"/>
            <a:ext cx="3383280" cy="822960"/>
          </a:xfrm>
          <a:prstGeom prst="rect">
            <a:avLst/>
          </a:prstGeom>
          <a:solidFill>
            <a:srgbClr val="07153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2655" y="5212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997135" y="5212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pgammedia.com  ·  Prepared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results, 22 days into flight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2743200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3.94M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delivered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OLV inventory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9272" y="16459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645920"/>
            <a:ext cx="2743200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502152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completion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~64% IAB OLV benchmark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16459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645920"/>
            <a:ext cx="2743200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64224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Attention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4224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Proprietary, TFN-calibrated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43416" y="164592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1645920"/>
            <a:ext cx="2743200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20"/>
          <p:cNvSpPr/>
          <p:nvPr/>
        </p:nvSpPr>
        <p:spPr>
          <a:xfrm>
            <a:off x="9226296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226296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publishers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26296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domain-allowlisted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11277295" cy="228600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931920"/>
            <a:ext cx="91440" cy="22860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389120"/>
            <a:ext cx="1063721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Business' Q2 OLV campaign is pacing on plan and over-indexing on completion. Completion rate climbed from the low 60s in week one to the low 70s by week three as PGAM's optimization moved spend toward high-attention placements. Forty-eight allowlisted publishers, zero MFA leakage, and a full-funnel mid-funnel layer launched on June 3.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5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Case Study  ·  Amazon Business OLV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brand, the audience, the ask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0292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91440" cy="448056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Business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B2B procurement platform serving 6M+ business customers — from sole proprietors to Fortune 500 buyers. Category leader competing for share of corporate purchasing wallets.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owners, office managers, and procurement decision-makers — engaged on business, finance, and tech editorial.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645920"/>
            <a:ext cx="5943600" cy="448056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148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Brand-safe OLV at scale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989320" y="2926080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880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completion, not clicks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154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VTR and viewable completion over CPC noise.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703320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657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business editorial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3931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to business, finance, and decision-maker content.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4480560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4709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disclosed. No MFA, no laundered supply.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5257800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5212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full-funnel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5486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Upper-funnel OLV today; mid-funnel layer next.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5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Case Study  ·  Amazon Business OLV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behind the result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2743200" cy="118872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premium supply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ClearLine seats into business and finance editorial. Domain allowlists, not contextual scrapes. No MFA, no incentivized traffic.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9272" y="173736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737360"/>
            <a:ext cx="2743200" cy="118872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02152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PGAM Attention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2152" y="310896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attention scoring on every impression — calibrated against real tracked-phone-number outcomes, not vendor black boxes.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173736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737360"/>
            <a:ext cx="2743200" cy="118872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64224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Full-funnel attribution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64224" y="310896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TFN-matched call attribution, CAPI server-to-server, and household-identity bridge. Measure what the campaign actually drove.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43416" y="173736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1737360"/>
            <a:ext cx="2743200" cy="118872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22" name="Text 20"/>
          <p:cNvSpPr/>
          <p:nvPr/>
        </p:nvSpPr>
        <p:spPr>
          <a:xfrm>
            <a:off x="9226296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26296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Margin-free transparency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26296" y="310896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publishers, the rates, the viewability, the attention. No supply-path arbitrage. Every dollar accountable.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5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Case Study  ·  Amazon Business OLV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against industry benchmarks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74980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83880" y="1737360"/>
            <a:ext cx="3520440" cy="438912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WAY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36676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+2.5 pp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36676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IAB OLV completion benchmark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6676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36676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PGAM Attention score (0–100)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66760" y="4800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366760" y="5394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on advertiser-approved allowlist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26364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IAB OLV benchmark: industry average 62–68% completion for in-stream desktop+CTV video.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5DC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Case Study  ·  Amazon Business OLV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20095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rate climbed as PGAM tuned supply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74980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83880" y="1737360"/>
            <a:ext cx="35204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83880" y="1737360"/>
            <a:ext cx="91440" cy="43891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WEEK-OVER-WEEK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12480" y="2194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moved up as low-attention publishers were de-weighted.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~64.6%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78408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~64.8%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1248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8408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~70.6%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412480" y="5074920"/>
            <a:ext cx="3108960" cy="0"/>
          </a:xfrm>
          <a:prstGeom prst="line">
            <a:avLst/>
          </a:prstGeom>
          <a:noFill/>
          <a:ln w="9525">
            <a:solidFill>
              <a:srgbClr val="D5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0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 +6.0 pp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412480" y="5669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→ Week 3 completion lift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5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Case Study  ·  Amazon Business OLV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20095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QUALITY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8 publishers — real domains, real attention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7772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280160"/>
                <a:gridCol w="11887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gizmodo.com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2,263,711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forbes.com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neoseeker.com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430,611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stocktwits.com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319,256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stockcharts.com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153,247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interestingengineering.com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barchart.com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ibtimes.com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37360"/>
            <a:ext cx="3200400" cy="438912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MORE PUBLISHERS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68680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total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0" y="292608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spans business news, finance, and engineering editorial. Every domain disclosed at the impression level — no laundered supply paths.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0" y="4937760"/>
            <a:ext cx="2743200" cy="0"/>
          </a:xfrm>
          <a:prstGeom prst="line">
            <a:avLst/>
          </a:prstGeom>
          <a:noFill/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5074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MFA. Zero subdomain spoofing.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5DC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Case Study  ·  Amazon Business OLV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20095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PGAM Attention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isn't a vendor score we license. We score every impression ourselves — using ad-server signals (viewability, completion, audibility, device class) calibrated against real outcomes from tracked phone numbers on advertiser landing pages.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950208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862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toward what actually moves the business, not vanity metrics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453128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389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any single SSP — we own the scoring stack end-to-end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892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TFN-calibrated so the score correlates with real human response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458968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3949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with Athena 'PGAM Attention' for cross-validation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4754880" cy="438912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= (B + D) × 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32320" y="2468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Postgres-native v1 scorer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310896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1812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18120" y="3401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Viewability + audible-completion lift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402336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81812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18120" y="4315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device class + connection quality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0" y="493776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818120" y="4956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5230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TFN-matched human-response factor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5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Case Study  ·  Amazon Business OLV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FUNNEL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awareness layered with mid-funnel intent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6648" y="1737360"/>
            <a:ext cx="10058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6648" y="1737360"/>
            <a:ext cx="109728" cy="1234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/>
          <p:nvPr/>
        </p:nvSpPr>
        <p:spPr>
          <a:xfrm>
            <a:off x="1340968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FUNNEL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40968" y="2103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OLV — Brand awareness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40968" y="248716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3.94M impressions delivered, 66.5% completion rate, 48 premium publishers.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67448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$65.8K  ·  May 13 → Jun 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81048" y="3154680"/>
            <a:ext cx="8229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81048" y="3154680"/>
            <a:ext cx="109728" cy="12344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2255368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FUNNEL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55368" y="3520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Mid-Funnel — Consideration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255368" y="3904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Retargets upper-funnel completers + lookalike business decision-makers.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3048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$30K  ·  Jun 3 → Jul 27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95448" y="4572000"/>
            <a:ext cx="6400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95448" y="4572000"/>
            <a:ext cx="109728" cy="1234440"/>
          </a:xfrm>
          <a:prstGeom prst="rect">
            <a:avLst/>
          </a:prstGeom>
          <a:solidFill>
            <a:srgbClr val="E6EEFC"/>
          </a:solidFill>
          <a:ln/>
        </p:spPr>
      </p:sp>
      <p:sp>
        <p:nvSpPr>
          <p:cNvPr id="19" name="Text 17"/>
          <p:cNvSpPr/>
          <p:nvPr/>
        </p:nvSpPr>
        <p:spPr>
          <a:xfrm>
            <a:off x="3169768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FUNNEL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69768" y="4937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/ call attribution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169768" y="5321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CTV Attribution Stack matches landing-page calls and CAPI events back to impression.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38648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LIVE  ·  TFN + CAPI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Full-funnel architecture means every upper-funnel completion has somewhere to go. Mid-funnel launched June 3 to absorb the audience PGAM just paid to reach.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5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Case Study  ·  Amazon Business OLV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PGAM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 that you don't anywhere else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03320" cy="2194560"/>
          </a:xfrm>
          <a:prstGeom prst="rect">
            <a:avLst/>
          </a:prstGeom>
          <a:solidFill>
            <a:srgbClr val="0B1E3F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ClearLine supply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holds the seat. No reseller hops. Lower cost, full transparency.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703320" cy="2194560"/>
          </a:xfrm>
          <a:prstGeom prst="rect">
            <a:avLst/>
          </a:prstGeom>
          <a:solidFill>
            <a:srgbClr val="0B1E3F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attention stack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0632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built in-house. Calibrated against real call outcomes, not vendor scores.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703320" cy="2194560"/>
          </a:xfrm>
          <a:prstGeom prst="rect">
            <a:avLst/>
          </a:prstGeom>
          <a:solidFill>
            <a:srgbClr val="0B1E3F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196596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attribution wired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03920" y="30632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TFN-matched calls, CAPI server-to-server, household identity bridge — shipped.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3703320" cy="2194560"/>
          </a:xfrm>
          <a:prstGeom prst="rect">
            <a:avLst/>
          </a:prstGeom>
          <a:solidFill>
            <a:srgbClr val="0B1E3F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safety by allowlist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allowlists, not contextual scrapes. Every publisher disclosed at impression level.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14800"/>
            <a:ext cx="3703320" cy="2194560"/>
          </a:xfrm>
          <a:prstGeom prst="rect">
            <a:avLst/>
          </a:prstGeom>
          <a:solidFill>
            <a:srgbClr val="0B1E3F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3891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17720" y="5029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transparency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17720" y="5486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media cost vs gross. No supply-path arbitrage hidden in your CPM.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4114800"/>
            <a:ext cx="3703320" cy="2194560"/>
          </a:xfrm>
          <a:prstGeom prst="rect">
            <a:avLst/>
          </a:prstGeom>
          <a:solidFill>
            <a:srgbClr val="0B1E3F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0" y="43891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503920" y="5029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Pace + optimize in flight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03920" y="5486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agent watches pacing, frequency, attention. Levers move daily, not monthly.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PGAM MEDIA  ·  Case Study  ·  Amazon Business OLV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OLV.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attention.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transparency.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run a brand-awareness or full-funnel video budget and you're tired of vendor black boxes and laundered supply, we should talk.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5669280"/>
            <a:ext cx="10332720" cy="777240"/>
          </a:xfrm>
          <a:prstGeom prst="rect">
            <a:avLst/>
          </a:prstGeom>
          <a:solidFill>
            <a:srgbClr val="0B1E3F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760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Priyesh Patel  ·  PGAM Media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6080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priyesh@pgammedia.com  ·  pgammedia.com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80015" y="5989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PGAM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PGAM Case Study — Amazon Business OLV</dc:title>
  <dc:subject>PptxGenJS Presentation</dc:subject>
  <dc:creator>PGAM Media</dc:creator>
  <cp:lastModifiedBy>PGAM Media</cp:lastModifiedBy>
  <cp:revision>1</cp:revision>
  <dcterms:created xsi:type="dcterms:W3CDTF">2026-06-04T22:13:57Z</dcterms:created>
  <dcterms:modified xsi:type="dcterms:W3CDTF">2026-06-04T22:13:57Z</dcterms:modified>
</cp:coreProperties>
</file>