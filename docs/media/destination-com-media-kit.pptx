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list</c:v>
                </c:pt>
              </c:strCache>
            </c:strRef>
          </c:tx>
          <c:spPr>
            <a:solidFill>
              <a:srgbClr val="C4622D"/>
            </a:solidFill>
            <a:effectLst/>
          </c:spPr>
          <c:invertIfNegative val="0"/>
          <c:dLbls>
            <c:numFmt formatCode="0&quot;%&quot;" sourceLinked="0"/>
            <c:txPr>
              <a:bodyPr/>
              <a:lstStyle/>
              <a:p>
                <a:pPr>
                  <a:defRPr b="0" i="0" strike="noStrike" sz="1100" u="none">
                    <a:solidFill>
                      <a:srgbClr val="1A1714"/>
                    </a:solidFill>
                    <a:latin typeface="Calibri"/>
                  </a:defRPr>
                </a:pPr>
              </a:p>
            </c:txPr>
            <c:showLegendKey val="0"/>
            <c:showVal val="1"/>
            <c:showCatName val="0"/>
            <c:showSerName val="0"/>
            <c:showPercent val="0"/>
            <c:showBubbleSize val="0"/>
            <c:showLeaderLines val="0"/>
          </c:dLbls>
          <c:cat>
            <c:multiLvlStrRef>
              <c:f>Sheet1!$A$2:$A$8</c:f>
              <c:multiLvlStrCache>
                <c:ptCount val="7"/>
                <c:lvl>
                  <c:pt idx="0">
                    <c:v>Points &amp; miles</c:v>
                  </c:pt>
                  <c:pt idx="1">
                    <c:v>Adventure &amp; outdoors</c:v>
                  </c:pt>
                  <c:pt idx="2">
                    <c:v>Beach &amp; islands</c:v>
                  </c:pt>
                  <c:pt idx="3">
                    <c:v>Food &amp; wine</c:v>
                  </c:pt>
                  <c:pt idx="4">
                    <c:v>Culture &amp; city breaks</c:v>
                  </c:pt>
                  <c:pt idx="5">
                    <c:v>Luxury &amp; slow travel</c:v>
                  </c:pt>
                  <c:pt idx="6">
                    <c:v>Budget &amp; backpacking</c:v>
                  </c:pt>
                </c:lvl>
              </c:multiLvlStrCache>
            </c:multiLvlStrRef>
          </c:cat>
          <c:val>
            <c:numRef>
              <c:f>Sheet1!$B$2:$B$8</c:f>
              <c:numCache>
                <c:formatCode>General</c:formatCode>
                <c:ptCount val="7"/>
                <c:pt idx="0">
                  <c:v>22</c:v>
                </c:pt>
                <c:pt idx="1">
                  <c:v>18</c:v>
                </c:pt>
                <c:pt idx="2">
                  <c:v>16</c:v>
                </c:pt>
                <c:pt idx="3">
                  <c:v>13</c:v>
                </c:pt>
                <c:pt idx="4">
                  <c:v>12</c:v>
                </c:pt>
                <c:pt idx="5">
                  <c:v>10</c:v>
                </c:pt>
                <c:pt idx="6">
                  <c:v>9</c:v>
                </c:pt>
              </c:numCache>
            </c:numRef>
          </c:val>
        </c:ser>
        <c:dLbls>
          <c:numFmt formatCode="0&quot;%&quot;" sourceLinked="0"/>
          <c:txPr>
            <a:bodyPr/>
            <a:lstStyle/>
            <a:p>
              <a:pPr>
                <a:defRPr b="0" i="0" strike="noStrike" sz="1100" u="none">
                  <a:solidFill>
                    <a:srgbClr val="1A1714"/>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3D3530"/>
                </a:solidFill>
                <a:latin typeface="Calibri"/>
              </a:defRPr>
            </a:pPr>
            <a:endParaRPr lang="en-US"/>
          </a:p>
        </c:txPr>
        <c:crossAx val="2094734552"/>
        <c:crosses val="autoZero"/>
        <c:auto val="1"/>
        <c:lblAlgn val="ctr"/>
        <c:noMultiLvlLbl val="1"/>
      </c:catAx>
      <c:valAx>
        <c:axId val="2094734552"/>
        <c:scaling>
          <c:orientation val="minMax"/>
          <c:max val="2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AF7F2"/>
        </a:solidFill>
        <a:ln>
          <a:noFill/>
        </a:ln>
        <a:effectLst/>
      </c:spPr>
    </c:plotArea>
    <c:plotVisOnly val="1"/>
    <c:dispBlanksAs val="span"/>
  </c:chart>
  <c:spPr>
    <a:solidFill>
      <a:srgbClr val="FAF7F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Region intent</c:v>
                </c:pt>
              </c:strCache>
            </c:strRef>
          </c:tx>
          <c:spPr>
            <a:solidFill>
              <a:srgbClr val="8A6620"/>
            </a:solidFill>
            <a:effectLst/>
          </c:spPr>
          <c:invertIfNegative val="0"/>
          <c:dLbls>
            <c:numFmt formatCode="0&quot;%&quot;" sourceLinked="0"/>
            <c:txPr>
              <a:bodyPr/>
              <a:lstStyle/>
              <a:p>
                <a:pPr>
                  <a:defRPr b="0" i="0" strike="noStrike" sz="1050" u="none">
                    <a:solidFill>
                      <a:srgbClr val="1A171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Europe</c:v>
                  </c:pt>
                  <c:pt idx="1">
                    <c:v>Asia</c:v>
                  </c:pt>
                  <c:pt idx="2">
                    <c:v>Americas</c:v>
                  </c:pt>
                  <c:pt idx="3">
                    <c:v>Africa</c:v>
                  </c:pt>
                  <c:pt idx="4">
                    <c:v>Middle East &amp; Pacific</c:v>
                  </c:pt>
                  <c:pt idx="5">
                    <c:v>Open to anywhere</c:v>
                  </c:pt>
                </c:lvl>
              </c:multiLvlStrCache>
            </c:multiLvlStrRef>
          </c:cat>
          <c:val>
            <c:numRef>
              <c:f>Sheet1!$B$2:$B$7</c:f>
              <c:numCache>
                <c:formatCode>General</c:formatCode>
                <c:ptCount val="6"/>
                <c:pt idx="0">
                  <c:v>34</c:v>
                </c:pt>
                <c:pt idx="1">
                  <c:v>22</c:v>
                </c:pt>
                <c:pt idx="2">
                  <c:v>19</c:v>
                </c:pt>
                <c:pt idx="3">
                  <c:v>11</c:v>
                </c:pt>
                <c:pt idx="4">
                  <c:v>8</c:v>
                </c:pt>
                <c:pt idx="5">
                  <c:v>6</c:v>
                </c:pt>
              </c:numCache>
            </c:numRef>
          </c:val>
        </c:ser>
        <c:dLbls>
          <c:numFmt formatCode="0&quot;%&quot;" sourceLinked="0"/>
          <c:txPr>
            <a:bodyPr/>
            <a:lstStyle/>
            <a:p>
              <a:pPr>
                <a:defRPr b="0" i="0" strike="noStrike" sz="1050" u="none">
                  <a:solidFill>
                    <a:srgbClr val="1A171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D3530"/>
                </a:solidFill>
                <a:latin typeface="Calibri"/>
              </a:defRPr>
            </a:pPr>
            <a:endParaRPr lang="en-US"/>
          </a:p>
        </c:txPr>
        <c:crossAx val="2094734552"/>
        <c:crosses val="autoZero"/>
        <c:auto val="1"/>
        <c:lblAlgn val="ctr"/>
        <c:noMultiLvlLbl val="1"/>
      </c:catAx>
      <c:valAx>
        <c:axId val="2094734552"/>
        <c:scaling>
          <c:orientation val="minMax"/>
          <c:max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0E8"/>
        </a:solidFill>
        <a:ln>
          <a:noFill/>
        </a:ln>
        <a:effectLst/>
      </c:spPr>
    </c:plotArea>
    <c:plotVisOnly val="1"/>
    <c:dispBlanksAs val="span"/>
  </c:chart>
  <c:spPr>
    <a:solidFill>
      <a:srgbClr val="F5F0E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Lead with the audience quality argument, not the size. The claim line is the editorial promise that makes the clicks worth buying.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'owns its own demand stack' line is the differentiator against every other travel content site a buyer is comparing us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traffic figures from this slide. The NDA line is deliberate — it moves the conversation to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the planner for performance buyers, the app for reach buyers, the commerce rails for affiliate and OTA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$0.42 per click is the strongest number in the deck. Lead with it against any performance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&amp; miles is the premium slot — 13,200 financially engaged names, and the segment card issuers pay most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stage is the cut most buyers have never been offered. Planning plus booking is 47% of the list — that is the performance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presenting sponsor package is the one to push — it is 13 issues of continuity and about 20% off the à la carte primary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Planner results is the premium CPM. If a buyer balks at it, that is the slot to demo live rather than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ads.txt verification point lands hardest with programmatic buyers — it is an automated daily check, not a policy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segment question, not on the rate card. The ask is 'which audience do you want', which is a question a buyer can answer on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mailto:info@pgammedia.com?subject=Destination.com%20enquiry"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634"/>
        </a:solidFill>
      </p:bgPr>
    </p:bg>
    <p:spTree>
      <p:nvGrpSpPr>
        <p:cNvPr id="1" name=""/>
        <p:cNvGrpSpPr/>
        <p:nvPr/>
      </p:nvGrpSpPr>
      <p:grpSpPr>
        <a:xfrm>
          <a:off x="0" y="0"/>
          <a:ext cx="0" cy="0"/>
          <a:chOff x="0" y="0"/>
          <a:chExt cx="0" cy="0"/>
        </a:xfrm>
      </p:grpSpPr>
      <p:sp>
        <p:nvSpPr>
          <p:cNvPr id="2" name="Shape 0"/>
          <p:cNvSpPr/>
          <p:nvPr/>
        </p:nvSpPr>
        <p:spPr>
          <a:xfrm>
            <a:off x="6400800" y="228600"/>
            <a:ext cx="6400800" cy="6400800"/>
          </a:xfrm>
          <a:prstGeom prst="ellipse">
            <a:avLst/>
          </a:prstGeom>
          <a:solidFill>
            <a:srgbClr val="1A2634"/>
          </a:solidFill>
          <a:ln w="11430">
            <a:solidFill>
              <a:srgbClr val="E08048">
                <a:alpha val="40000"/>
              </a:srgbClr>
            </a:solidFill>
            <a:prstDash val="solid"/>
          </a:ln>
        </p:spPr>
      </p:sp>
      <p:sp>
        <p:nvSpPr>
          <p:cNvPr id="3" name="Shape 1"/>
          <p:cNvSpPr/>
          <p:nvPr/>
        </p:nvSpPr>
        <p:spPr>
          <a:xfrm>
            <a:off x="7132320" y="960120"/>
            <a:ext cx="4937760" cy="4937760"/>
          </a:xfrm>
          <a:prstGeom prst="ellipse">
            <a:avLst/>
          </a:prstGeom>
          <a:solidFill>
            <a:srgbClr val="1A2634"/>
          </a:solidFill>
          <a:ln w="11430">
            <a:solidFill>
              <a:srgbClr val="E08048">
                <a:alpha val="40000"/>
              </a:srgbClr>
            </a:solidFill>
            <a:prstDash val="solid"/>
          </a:ln>
        </p:spPr>
      </p:sp>
      <p:sp>
        <p:nvSpPr>
          <p:cNvPr id="4" name="Shape 2"/>
          <p:cNvSpPr/>
          <p:nvPr/>
        </p:nvSpPr>
        <p:spPr>
          <a:xfrm>
            <a:off x="7863840" y="1691640"/>
            <a:ext cx="3474720" cy="3474720"/>
          </a:xfrm>
          <a:prstGeom prst="ellipse">
            <a:avLst/>
          </a:prstGeom>
          <a:solidFill>
            <a:srgbClr val="1A2634"/>
          </a:solidFill>
          <a:ln w="11430">
            <a:solidFill>
              <a:srgbClr val="E08048">
                <a:alpha val="40000"/>
              </a:srgbClr>
            </a:solidFill>
            <a:prstDash val="solid"/>
          </a:ln>
        </p:spPr>
      </p:sp>
      <p:sp>
        <p:nvSpPr>
          <p:cNvPr id="5" name="Shape 3"/>
          <p:cNvSpPr/>
          <p:nvPr/>
        </p:nvSpPr>
        <p:spPr>
          <a:xfrm>
            <a:off x="8595360" y="2423160"/>
            <a:ext cx="2011680" cy="2011680"/>
          </a:xfrm>
          <a:prstGeom prst="ellipse">
            <a:avLst/>
          </a:prstGeom>
          <a:solidFill>
            <a:srgbClr val="1A2634"/>
          </a:solidFill>
          <a:ln w="11430">
            <a:solidFill>
              <a:srgbClr val="E08048">
                <a:alpha val="40000"/>
              </a:srgbClr>
            </a:solidFill>
            <a:prstDash val="solid"/>
          </a:ln>
        </p:spPr>
      </p:sp>
      <p:sp>
        <p:nvSpPr>
          <p:cNvPr id="6" name="Shape 4"/>
          <p:cNvSpPr/>
          <p:nvPr/>
        </p:nvSpPr>
        <p:spPr>
          <a:xfrm>
            <a:off x="9473184" y="3300984"/>
            <a:ext cx="256032" cy="256032"/>
          </a:xfrm>
          <a:prstGeom prst="ellipse">
            <a:avLst/>
          </a:prstGeom>
          <a:solidFill>
            <a:srgbClr val="D4A843"/>
          </a:solidFill>
          <a:ln/>
        </p:spPr>
      </p:sp>
      <p:sp>
        <p:nvSpPr>
          <p:cNvPr id="7" name="Text 5"/>
          <p:cNvSpPr/>
          <p:nvPr/>
        </p:nvSpPr>
        <p:spPr>
          <a:xfrm>
            <a:off x="566928" y="1371600"/>
            <a:ext cx="7315200" cy="274320"/>
          </a:xfrm>
          <a:prstGeom prst="rect">
            <a:avLst/>
          </a:prstGeom>
          <a:noFill/>
          <a:ln/>
        </p:spPr>
        <p:txBody>
          <a:bodyPr wrap="square" lIns="0" tIns="0" rIns="0" bIns="0" rtlCol="0" anchor="ctr"/>
          <a:lstStyle/>
          <a:p>
            <a:pPr indent="0" marL="0">
              <a:buNone/>
            </a:pPr>
            <a:r>
              <a:rPr lang="en-US" sz="1150" b="1" spc="260" kern="0" dirty="0">
                <a:solidFill>
                  <a:srgbClr val="D4A843"/>
                </a:solidFill>
                <a:latin typeface="Calibri" pitchFamily="34" charset="0"/>
                <a:ea typeface="Calibri" pitchFamily="34" charset="-122"/>
                <a:cs typeface="Calibri" pitchFamily="34" charset="-120"/>
              </a:rPr>
              <a:t>ADVERTISING &amp; PARTNERSHIPS  ·  2026</a:t>
            </a:r>
            <a:endParaRPr lang="en-US" sz="1150" dirty="0"/>
          </a:p>
        </p:txBody>
      </p:sp>
      <p:sp>
        <p:nvSpPr>
          <p:cNvPr id="8" name="Text 6"/>
          <p:cNvSpPr/>
          <p:nvPr/>
        </p:nvSpPr>
        <p:spPr>
          <a:xfrm>
            <a:off x="521208" y="1828800"/>
            <a:ext cx="8412480" cy="1188720"/>
          </a:xfrm>
          <a:prstGeom prst="rect">
            <a:avLst/>
          </a:prstGeom>
          <a:noFill/>
          <a:ln/>
        </p:spPr>
        <p:txBody>
          <a:bodyPr wrap="square" lIns="0" tIns="0" rIns="0" bIns="0" rtlCol="0" anchor="ctr"/>
          <a:lstStyle/>
          <a:p>
            <a:pPr indent="0" marL="0">
              <a:buNone/>
            </a:pPr>
            <a:r>
              <a:rPr lang="en-US" sz="6000" b="1" dirty="0">
                <a:solidFill>
                  <a:srgbClr val="F2EDE4"/>
                </a:solidFill>
                <a:latin typeface="Century Schoolbook" pitchFamily="34" charset="0"/>
                <a:ea typeface="Century Schoolbook" pitchFamily="34" charset="-122"/>
                <a:cs typeface="Century Schoolbook" pitchFamily="34" charset="-120"/>
              </a:rPr>
              <a:t>Destination</a:t>
            </a:r>
            <a:pPr indent="0" marL="0">
              <a:buNone/>
            </a:pPr>
            <a:r>
              <a:rPr lang="en-US" sz="6000" b="1" dirty="0">
                <a:solidFill>
                  <a:srgbClr val="E08048"/>
                </a:solidFill>
                <a:latin typeface="Century Schoolbook" pitchFamily="34" charset="0"/>
                <a:ea typeface="Century Schoolbook" pitchFamily="34" charset="-122"/>
                <a:cs typeface="Century Schoolbook" pitchFamily="34" charset="-120"/>
              </a:rPr>
              <a:t>.</a:t>
            </a:r>
            <a:pPr indent="0" marL="0">
              <a:buNone/>
            </a:pPr>
            <a:r>
              <a:rPr lang="en-US" sz="6000" b="1" dirty="0">
                <a:solidFill>
                  <a:srgbClr val="F2EDE4"/>
                </a:solidFill>
                <a:latin typeface="Century Schoolbook" pitchFamily="34" charset="0"/>
                <a:ea typeface="Century Schoolbook" pitchFamily="34" charset="-122"/>
                <a:cs typeface="Century Schoolbook" pitchFamily="34" charset="-120"/>
              </a:rPr>
              <a:t>com</a:t>
            </a:r>
            <a:endParaRPr lang="en-US" sz="6000" dirty="0"/>
          </a:p>
        </p:txBody>
      </p:sp>
      <p:sp>
        <p:nvSpPr>
          <p:cNvPr id="9" name="Text 7"/>
          <p:cNvSpPr/>
          <p:nvPr/>
        </p:nvSpPr>
        <p:spPr>
          <a:xfrm>
            <a:off x="566928" y="3127248"/>
            <a:ext cx="6766560" cy="914400"/>
          </a:xfrm>
          <a:prstGeom prst="rect">
            <a:avLst/>
          </a:prstGeom>
          <a:noFill/>
          <a:ln/>
        </p:spPr>
        <p:txBody>
          <a:bodyPr wrap="square" lIns="0" tIns="0" rIns="0" bIns="0" rtlCol="0" anchor="ctr"/>
          <a:lstStyle/>
          <a:p>
            <a:pPr indent="0" marL="0">
              <a:lnSpc>
                <a:spcPts val="2600"/>
              </a:lnSpc>
              <a:buNone/>
            </a:pPr>
            <a:r>
              <a:rPr lang="en-US" sz="1650" i="1" dirty="0">
                <a:solidFill>
                  <a:srgbClr val="F2EDE4"/>
                </a:solidFill>
                <a:latin typeface="Century Schoolbook" pitchFamily="34" charset="0"/>
                <a:ea typeface="Century Schoolbook" pitchFamily="34" charset="-122"/>
                <a:cs typeface="Century Schoolbook" pitchFamily="34" charset="-120"/>
              </a:rPr>
              <a:t>Guides written by travelers who have actually been there —</a:t>
            </a:r>
            <a:endParaRPr lang="en-US" sz="1650" dirty="0"/>
          </a:p>
          <a:p>
            <a:pPr indent="0" marL="0">
              <a:lnSpc>
                <a:spcPts val="2600"/>
              </a:lnSpc>
              <a:buNone/>
            </a:pPr>
            <a:r>
              <a:rPr lang="en-US" sz="1650" i="1" dirty="0">
                <a:solidFill>
                  <a:srgbClr val="F2EDE4"/>
                </a:solidFill>
                <a:latin typeface="Century Schoolbook" pitchFamily="34" charset="0"/>
                <a:ea typeface="Century Schoolbook" pitchFamily="34" charset="-122"/>
                <a:cs typeface="Century Schoolbook" pitchFamily="34" charset="-120"/>
              </a:rPr>
              <a:t>and an audience that books what we recommend.</a:t>
            </a:r>
            <a:endParaRPr lang="en-US" sz="1650" dirty="0"/>
          </a:p>
        </p:txBody>
      </p:sp>
      <p:sp>
        <p:nvSpPr>
          <p:cNvPr id="10" name="Shape 8"/>
          <p:cNvSpPr/>
          <p:nvPr/>
        </p:nvSpPr>
        <p:spPr>
          <a:xfrm>
            <a:off x="566928" y="4315968"/>
            <a:ext cx="6766560" cy="0"/>
          </a:xfrm>
          <a:prstGeom prst="line">
            <a:avLst/>
          </a:prstGeom>
          <a:noFill/>
          <a:ln w="7620">
            <a:solidFill>
              <a:srgbClr val="F2EDE4">
                <a:alpha val="20000"/>
              </a:srgbClr>
            </a:solidFill>
            <a:prstDash val="solid"/>
          </a:ln>
        </p:spPr>
      </p:sp>
      <p:sp>
        <p:nvSpPr>
          <p:cNvPr id="11" name="Text 9"/>
          <p:cNvSpPr/>
          <p:nvPr/>
        </p:nvSpPr>
        <p:spPr>
          <a:xfrm>
            <a:off x="566928" y="4370832"/>
            <a:ext cx="2103120" cy="274320"/>
          </a:xfrm>
          <a:prstGeom prst="rect">
            <a:avLst/>
          </a:prstGeom>
          <a:noFill/>
          <a:ln/>
        </p:spPr>
        <p:txBody>
          <a:bodyPr wrap="square" lIns="0" tIns="0" rIns="0" bIns="0" rtlCol="0" anchor="ctr"/>
          <a:lstStyle/>
          <a:p>
            <a:pPr indent="0" marL="0">
              <a:buNone/>
            </a:pPr>
            <a:r>
              <a:rPr lang="en-US" sz="950" b="1" spc="180" kern="0" dirty="0">
                <a:solidFill>
                  <a:srgbClr val="9AA9B8"/>
                </a:solidFill>
                <a:latin typeface="Calibri" pitchFamily="34" charset="0"/>
                <a:ea typeface="Calibri" pitchFamily="34" charset="-122"/>
                <a:cs typeface="Calibri" pitchFamily="34" charset="-120"/>
              </a:rPr>
              <a:t>CATEGORY</a:t>
            </a:r>
            <a:endParaRPr lang="en-US" sz="950" dirty="0"/>
          </a:p>
        </p:txBody>
      </p:sp>
      <p:sp>
        <p:nvSpPr>
          <p:cNvPr id="12" name="Text 10"/>
          <p:cNvSpPr/>
          <p:nvPr/>
        </p:nvSpPr>
        <p:spPr>
          <a:xfrm>
            <a:off x="2715768" y="4370832"/>
            <a:ext cx="4572000" cy="274320"/>
          </a:xfrm>
          <a:prstGeom prst="rect">
            <a:avLst/>
          </a:prstGeom>
          <a:noFill/>
          <a:ln/>
        </p:spPr>
        <p:txBody>
          <a:bodyPr wrap="square" lIns="0" tIns="0" rIns="0" bIns="0" rtlCol="0" anchor="ctr"/>
          <a:lstStyle/>
          <a:p>
            <a:pPr indent="0" marL="0">
              <a:buNone/>
            </a:pPr>
            <a:r>
              <a:rPr lang="en-US" sz="1150" dirty="0">
                <a:solidFill>
                  <a:srgbClr val="F2EDE4"/>
                </a:solidFill>
                <a:latin typeface="Calibri" pitchFamily="34" charset="0"/>
                <a:ea typeface="Calibri" pitchFamily="34" charset="-122"/>
                <a:cs typeface="Calibri" pitchFamily="34" charset="-120"/>
              </a:rPr>
              <a:t>Travel · Points &amp; Miles</a:t>
            </a:r>
            <a:endParaRPr lang="en-US" sz="1150" dirty="0"/>
          </a:p>
        </p:txBody>
      </p:sp>
      <p:sp>
        <p:nvSpPr>
          <p:cNvPr id="13" name="Shape 11"/>
          <p:cNvSpPr/>
          <p:nvPr/>
        </p:nvSpPr>
        <p:spPr>
          <a:xfrm>
            <a:off x="566928" y="4736592"/>
            <a:ext cx="6766560" cy="0"/>
          </a:xfrm>
          <a:prstGeom prst="line">
            <a:avLst/>
          </a:prstGeom>
          <a:noFill/>
          <a:ln w="7620">
            <a:solidFill>
              <a:srgbClr val="F2EDE4">
                <a:alpha val="20000"/>
              </a:srgbClr>
            </a:solidFill>
            <a:prstDash val="solid"/>
          </a:ln>
        </p:spPr>
      </p:sp>
      <p:sp>
        <p:nvSpPr>
          <p:cNvPr id="14" name="Text 12"/>
          <p:cNvSpPr/>
          <p:nvPr/>
        </p:nvSpPr>
        <p:spPr>
          <a:xfrm>
            <a:off x="566928" y="4791456"/>
            <a:ext cx="2103120" cy="274320"/>
          </a:xfrm>
          <a:prstGeom prst="rect">
            <a:avLst/>
          </a:prstGeom>
          <a:noFill/>
          <a:ln/>
        </p:spPr>
        <p:txBody>
          <a:bodyPr wrap="square" lIns="0" tIns="0" rIns="0" bIns="0" rtlCol="0" anchor="ctr"/>
          <a:lstStyle/>
          <a:p>
            <a:pPr indent="0" marL="0">
              <a:buNone/>
            </a:pPr>
            <a:r>
              <a:rPr lang="en-US" sz="950" b="1" spc="180" kern="0" dirty="0">
                <a:solidFill>
                  <a:srgbClr val="9AA9B8"/>
                </a:solidFill>
                <a:latin typeface="Calibri" pitchFamily="34" charset="0"/>
                <a:ea typeface="Calibri" pitchFamily="34" charset="-122"/>
                <a:cs typeface="Calibri" pitchFamily="34" charset="-120"/>
              </a:rPr>
              <a:t>OWNER</a:t>
            </a:r>
            <a:endParaRPr lang="en-US" sz="950" dirty="0"/>
          </a:p>
        </p:txBody>
      </p:sp>
      <p:sp>
        <p:nvSpPr>
          <p:cNvPr id="15" name="Text 13"/>
          <p:cNvSpPr/>
          <p:nvPr/>
        </p:nvSpPr>
        <p:spPr>
          <a:xfrm>
            <a:off x="2715768" y="4791456"/>
            <a:ext cx="4572000" cy="274320"/>
          </a:xfrm>
          <a:prstGeom prst="rect">
            <a:avLst/>
          </a:prstGeom>
          <a:noFill/>
          <a:ln/>
        </p:spPr>
        <p:txBody>
          <a:bodyPr wrap="square" lIns="0" tIns="0" rIns="0" bIns="0" rtlCol="0" anchor="ctr"/>
          <a:lstStyle/>
          <a:p>
            <a:pPr indent="0" marL="0">
              <a:buNone/>
            </a:pPr>
            <a:r>
              <a:rPr lang="en-US" sz="1150" dirty="0">
                <a:solidFill>
                  <a:srgbClr val="F2EDE4"/>
                </a:solidFill>
                <a:latin typeface="Calibri" pitchFamily="34" charset="0"/>
                <a:ea typeface="Calibri" pitchFamily="34" charset="-122"/>
                <a:cs typeface="Calibri" pitchFamily="34" charset="-120"/>
              </a:rPr>
              <a:t>PGAM Media, owned &amp; operated</a:t>
            </a:r>
            <a:endParaRPr lang="en-US" sz="1150" dirty="0"/>
          </a:p>
        </p:txBody>
      </p:sp>
      <p:sp>
        <p:nvSpPr>
          <p:cNvPr id="16" name="Shape 14"/>
          <p:cNvSpPr/>
          <p:nvPr/>
        </p:nvSpPr>
        <p:spPr>
          <a:xfrm>
            <a:off x="566928" y="5157216"/>
            <a:ext cx="6766560" cy="0"/>
          </a:xfrm>
          <a:prstGeom prst="line">
            <a:avLst/>
          </a:prstGeom>
          <a:noFill/>
          <a:ln w="7620">
            <a:solidFill>
              <a:srgbClr val="F2EDE4">
                <a:alpha val="20000"/>
              </a:srgbClr>
            </a:solidFill>
            <a:prstDash val="solid"/>
          </a:ln>
        </p:spPr>
      </p:sp>
      <p:sp>
        <p:nvSpPr>
          <p:cNvPr id="17" name="Text 15"/>
          <p:cNvSpPr/>
          <p:nvPr/>
        </p:nvSpPr>
        <p:spPr>
          <a:xfrm>
            <a:off x="566928" y="5212080"/>
            <a:ext cx="2103120" cy="274320"/>
          </a:xfrm>
          <a:prstGeom prst="rect">
            <a:avLst/>
          </a:prstGeom>
          <a:noFill/>
          <a:ln/>
        </p:spPr>
        <p:txBody>
          <a:bodyPr wrap="square" lIns="0" tIns="0" rIns="0" bIns="0" rtlCol="0" anchor="ctr"/>
          <a:lstStyle/>
          <a:p>
            <a:pPr indent="0" marL="0">
              <a:buNone/>
            </a:pPr>
            <a:r>
              <a:rPr lang="en-US" sz="950" b="1" spc="180" kern="0" dirty="0">
                <a:solidFill>
                  <a:srgbClr val="9AA9B8"/>
                </a:solidFill>
                <a:latin typeface="Calibri" pitchFamily="34" charset="0"/>
                <a:ea typeface="Calibri" pitchFamily="34" charset="-122"/>
                <a:cs typeface="Calibri" pitchFamily="34" charset="-120"/>
              </a:rPr>
              <a:t>NEWSLETTER</a:t>
            </a:r>
            <a:endParaRPr lang="en-US" sz="950" dirty="0"/>
          </a:p>
        </p:txBody>
      </p:sp>
      <p:sp>
        <p:nvSpPr>
          <p:cNvPr id="18" name="Text 16"/>
          <p:cNvSpPr/>
          <p:nvPr/>
        </p:nvSpPr>
        <p:spPr>
          <a:xfrm>
            <a:off x="2715768" y="5212080"/>
            <a:ext cx="4572000" cy="274320"/>
          </a:xfrm>
          <a:prstGeom prst="rect">
            <a:avLst/>
          </a:prstGeom>
          <a:noFill/>
          <a:ln/>
        </p:spPr>
        <p:txBody>
          <a:bodyPr wrap="square" lIns="0" tIns="0" rIns="0" bIns="0" rtlCol="0" anchor="ctr"/>
          <a:lstStyle/>
          <a:p>
            <a:pPr indent="0" marL="0">
              <a:buNone/>
            </a:pPr>
            <a:r>
              <a:rPr lang="en-US" sz="1150" dirty="0">
                <a:solidFill>
                  <a:srgbClr val="F2EDE4"/>
                </a:solidFill>
                <a:latin typeface="Calibri" pitchFamily="34" charset="0"/>
                <a:ea typeface="Calibri" pitchFamily="34" charset="-122"/>
                <a:cs typeface="Calibri" pitchFamily="34" charset="-120"/>
              </a:rPr>
              <a:t>60,000 subscribers</a:t>
            </a:r>
            <a:endParaRPr lang="en-US" sz="1150" dirty="0"/>
          </a:p>
        </p:txBody>
      </p:sp>
      <p:sp>
        <p:nvSpPr>
          <p:cNvPr id="19" name="Shape 17"/>
          <p:cNvSpPr/>
          <p:nvPr/>
        </p:nvSpPr>
        <p:spPr>
          <a:xfrm>
            <a:off x="566928" y="5577840"/>
            <a:ext cx="6766560" cy="0"/>
          </a:xfrm>
          <a:prstGeom prst="line">
            <a:avLst/>
          </a:prstGeom>
          <a:noFill/>
          <a:ln w="7620">
            <a:solidFill>
              <a:srgbClr val="F2EDE4">
                <a:alpha val="20000"/>
              </a:srgbClr>
            </a:solidFill>
            <a:prstDash val="solid"/>
          </a:ln>
        </p:spPr>
      </p:sp>
      <p:sp>
        <p:nvSpPr>
          <p:cNvPr id="20" name="Text 18"/>
          <p:cNvSpPr/>
          <p:nvPr/>
        </p:nvSpPr>
        <p:spPr>
          <a:xfrm>
            <a:off x="566928" y="5632704"/>
            <a:ext cx="2103120" cy="274320"/>
          </a:xfrm>
          <a:prstGeom prst="rect">
            <a:avLst/>
          </a:prstGeom>
          <a:noFill/>
          <a:ln/>
        </p:spPr>
        <p:txBody>
          <a:bodyPr wrap="square" lIns="0" tIns="0" rIns="0" bIns="0" rtlCol="0" anchor="ctr"/>
          <a:lstStyle/>
          <a:p>
            <a:pPr indent="0" marL="0">
              <a:buNone/>
            </a:pPr>
            <a:r>
              <a:rPr lang="en-US" sz="950" b="1" spc="180" kern="0" dirty="0">
                <a:solidFill>
                  <a:srgbClr val="9AA9B8"/>
                </a:solidFill>
                <a:latin typeface="Calibri" pitchFamily="34" charset="0"/>
                <a:ea typeface="Calibri" pitchFamily="34" charset="-122"/>
                <a:cs typeface="Calibri" pitchFamily="34" charset="-120"/>
              </a:rPr>
              <a:t>ENGAGEMENT</a:t>
            </a:r>
            <a:endParaRPr lang="en-US" sz="950" dirty="0"/>
          </a:p>
        </p:txBody>
      </p:sp>
      <p:sp>
        <p:nvSpPr>
          <p:cNvPr id="21" name="Text 19"/>
          <p:cNvSpPr/>
          <p:nvPr/>
        </p:nvSpPr>
        <p:spPr>
          <a:xfrm>
            <a:off x="2715768" y="5632704"/>
            <a:ext cx="4572000" cy="274320"/>
          </a:xfrm>
          <a:prstGeom prst="rect">
            <a:avLst/>
          </a:prstGeom>
          <a:noFill/>
          <a:ln/>
        </p:spPr>
        <p:txBody>
          <a:bodyPr wrap="square" lIns="0" tIns="0" rIns="0" bIns="0" rtlCol="0" anchor="ctr"/>
          <a:lstStyle/>
          <a:p>
            <a:pPr indent="0" marL="0">
              <a:buNone/>
            </a:pPr>
            <a:r>
              <a:rPr lang="en-US" sz="1150" dirty="0">
                <a:solidFill>
                  <a:srgbClr val="F2EDE4"/>
                </a:solidFill>
                <a:latin typeface="Calibri" pitchFamily="34" charset="0"/>
                <a:ea typeface="Calibri" pitchFamily="34" charset="-122"/>
                <a:cs typeface="Calibri" pitchFamily="34" charset="-120"/>
              </a:rPr>
              <a:t>50%+ open  ·  10% click</a:t>
            </a:r>
            <a:endParaRPr lang="en-US" sz="1150" dirty="0"/>
          </a:p>
        </p:txBody>
      </p:sp>
      <p:sp>
        <p:nvSpPr>
          <p:cNvPr id="22" name="Shape 20"/>
          <p:cNvSpPr/>
          <p:nvPr/>
        </p:nvSpPr>
        <p:spPr>
          <a:xfrm>
            <a:off x="566928" y="5998464"/>
            <a:ext cx="6766560" cy="0"/>
          </a:xfrm>
          <a:prstGeom prst="line">
            <a:avLst/>
          </a:prstGeom>
          <a:noFill/>
          <a:ln w="7620">
            <a:solidFill>
              <a:srgbClr val="F2EDE4">
                <a:alpha val="20000"/>
              </a:srgbClr>
            </a:solidFill>
            <a:prstDash val="solid"/>
          </a:ln>
        </p:spPr>
      </p:sp>
      <p:sp>
        <p:nvSpPr>
          <p:cNvPr id="23" name="Text 21"/>
          <p:cNvSpPr/>
          <p:nvPr/>
        </p:nvSpPr>
        <p:spPr>
          <a:xfrm>
            <a:off x="566928" y="6053328"/>
            <a:ext cx="2103120" cy="274320"/>
          </a:xfrm>
          <a:prstGeom prst="rect">
            <a:avLst/>
          </a:prstGeom>
          <a:noFill/>
          <a:ln/>
        </p:spPr>
        <p:txBody>
          <a:bodyPr wrap="square" lIns="0" tIns="0" rIns="0" bIns="0" rtlCol="0" anchor="ctr"/>
          <a:lstStyle/>
          <a:p>
            <a:pPr indent="0" marL="0">
              <a:buNone/>
            </a:pPr>
            <a:r>
              <a:rPr lang="en-US" sz="950" b="1" spc="180" kern="0" dirty="0">
                <a:solidFill>
                  <a:srgbClr val="9AA9B8"/>
                </a:solidFill>
                <a:latin typeface="Calibri" pitchFamily="34" charset="0"/>
                <a:ea typeface="Calibri" pitchFamily="34" charset="-122"/>
                <a:cs typeface="Calibri" pitchFamily="34" charset="-120"/>
              </a:rPr>
              <a:t>SURFACES</a:t>
            </a:r>
            <a:endParaRPr lang="en-US" sz="950" dirty="0"/>
          </a:p>
        </p:txBody>
      </p:sp>
      <p:sp>
        <p:nvSpPr>
          <p:cNvPr id="24" name="Text 22"/>
          <p:cNvSpPr/>
          <p:nvPr/>
        </p:nvSpPr>
        <p:spPr>
          <a:xfrm>
            <a:off x="2715768" y="6053328"/>
            <a:ext cx="4572000" cy="274320"/>
          </a:xfrm>
          <a:prstGeom prst="rect">
            <a:avLst/>
          </a:prstGeom>
          <a:noFill/>
          <a:ln/>
        </p:spPr>
        <p:txBody>
          <a:bodyPr wrap="square" lIns="0" tIns="0" rIns="0" bIns="0" rtlCol="0" anchor="ctr"/>
          <a:lstStyle/>
          <a:p>
            <a:pPr indent="0" marL="0">
              <a:buNone/>
            </a:pPr>
            <a:r>
              <a:rPr lang="en-US" sz="1150" dirty="0">
                <a:solidFill>
                  <a:srgbClr val="F2EDE4"/>
                </a:solidFill>
                <a:latin typeface="Calibri" pitchFamily="34" charset="0"/>
                <a:ea typeface="Calibri" pitchFamily="34" charset="-122"/>
                <a:cs typeface="Calibri" pitchFamily="34" charset="-120"/>
              </a:rPr>
              <a:t>Web · Email · iOS &amp; Android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THE PROPERTY</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A travel publisher that owns its own demand stack.</a:t>
            </a:r>
            <a:endParaRPr lang="en-US" sz="3300" dirty="0"/>
          </a:p>
        </p:txBody>
      </p:sp>
      <p:sp>
        <p:nvSpPr>
          <p:cNvPr id="6" name="Text 4"/>
          <p:cNvSpPr/>
          <p:nvPr/>
        </p:nvSpPr>
        <p:spPr>
          <a:xfrm>
            <a:off x="566928" y="2322576"/>
            <a:ext cx="10881360" cy="786384"/>
          </a:xfrm>
          <a:prstGeom prst="rect">
            <a:avLst/>
          </a:prstGeom>
          <a:noFill/>
          <a:ln/>
        </p:spPr>
        <p:txBody>
          <a:bodyPr wrap="square" lIns="0" tIns="0" rIns="0" bIns="0" rtlCol="0" anchor="t"/>
          <a:lstStyle/>
          <a:p>
            <a:pPr indent="0" marL="0">
              <a:lnSpc>
                <a:spcPts val="2100"/>
              </a:lnSpc>
              <a:buNone/>
            </a:pPr>
            <a:r>
              <a:rPr lang="en-US" sz="1450" dirty="0">
                <a:solidFill>
                  <a:srgbClr val="3D3530"/>
                </a:solidFill>
                <a:latin typeface="Calibri" pitchFamily="34" charset="0"/>
                <a:ea typeface="Calibri" pitchFamily="34" charset="-122"/>
                <a:cs typeface="Calibri" pitchFamily="34" charset="-120"/>
              </a:rPr>
              <a:t>Destination.com is an owned-and-operated property of PGAM Media, an ad tech company that runs its own SSP. No reseller between you and the inventory, no opaque supply chain, and a plan that spans editorial, email, and commerce in one conversation.</a:t>
            </a:r>
            <a:endParaRPr lang="en-US" sz="1450" dirty="0"/>
          </a:p>
        </p:txBody>
      </p:sp>
      <p:sp>
        <p:nvSpPr>
          <p:cNvPr id="7" name="Shape 5"/>
          <p:cNvSpPr/>
          <p:nvPr/>
        </p:nvSpPr>
        <p:spPr>
          <a:xfrm>
            <a:off x="566928" y="3200400"/>
            <a:ext cx="3502152" cy="2084832"/>
          </a:xfrm>
          <a:prstGeom prst="roundRect">
            <a:avLst>
              <a:gd name="adj" fmla="val 1754"/>
            </a:avLst>
          </a:prstGeom>
          <a:solidFill>
            <a:srgbClr val="F5F0E8"/>
          </a:solidFill>
          <a:ln/>
        </p:spPr>
      </p:sp>
      <p:sp>
        <p:nvSpPr>
          <p:cNvPr id="8" name="Shape 6"/>
          <p:cNvSpPr/>
          <p:nvPr/>
        </p:nvSpPr>
        <p:spPr>
          <a:xfrm>
            <a:off x="841248" y="3456432"/>
            <a:ext cx="274320" cy="274320"/>
          </a:xfrm>
          <a:prstGeom prst="ellipse">
            <a:avLst/>
          </a:prstGeom>
          <a:solidFill>
            <a:srgbClr val="A0471C"/>
          </a:solidFill>
          <a:ln/>
        </p:spPr>
      </p:sp>
      <p:sp>
        <p:nvSpPr>
          <p:cNvPr id="9" name="Text 7"/>
          <p:cNvSpPr/>
          <p:nvPr/>
        </p:nvSpPr>
        <p:spPr>
          <a:xfrm>
            <a:off x="841248" y="345643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p:nvPr/>
        </p:nvSpPr>
        <p:spPr>
          <a:xfrm>
            <a:off x="841248" y="3840480"/>
            <a:ext cx="2953512" cy="310896"/>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A high-ticket category</a:t>
            </a:r>
            <a:endParaRPr lang="en-US" sz="1500" dirty="0"/>
          </a:p>
        </p:txBody>
      </p:sp>
      <p:sp>
        <p:nvSpPr>
          <p:cNvPr id="11" name="Text 9"/>
          <p:cNvSpPr/>
          <p:nvPr/>
        </p:nvSpPr>
        <p:spPr>
          <a:xfrm>
            <a:off x="841248" y="4206240"/>
            <a:ext cx="2953512" cy="914400"/>
          </a:xfrm>
          <a:prstGeom prst="rect">
            <a:avLst/>
          </a:prstGeom>
          <a:noFill/>
          <a:ln/>
        </p:spPr>
        <p:txBody>
          <a:bodyPr wrap="square" lIns="0" tIns="0" rIns="0" bIns="0" rtlCol="0" anchor="ctr"/>
          <a:lstStyle/>
          <a:p>
            <a:pPr indent="0" marL="0">
              <a:lnSpc>
                <a:spcPts val="1600"/>
              </a:lnSpc>
              <a:buNone/>
            </a:pPr>
            <a:r>
              <a:rPr lang="en-US" sz="1150" dirty="0">
                <a:solidFill>
                  <a:srgbClr val="6B5F58"/>
                </a:solidFill>
                <a:latin typeface="Calibri" pitchFamily="34" charset="0"/>
                <a:ea typeface="Calibri" pitchFamily="34" charset="-122"/>
                <a:cs typeface="Calibri" pitchFamily="34" charset="-120"/>
              </a:rPr>
              <a:t>One reader decision is worth thousands in flights, hotels, tours, insurance, and cards. Travel intent monetises at a multiple of general interest.</a:t>
            </a:r>
            <a:endParaRPr lang="en-US" sz="1150" dirty="0"/>
          </a:p>
        </p:txBody>
      </p:sp>
      <p:sp>
        <p:nvSpPr>
          <p:cNvPr id="12" name="Shape 10"/>
          <p:cNvSpPr/>
          <p:nvPr/>
        </p:nvSpPr>
        <p:spPr>
          <a:xfrm>
            <a:off x="4343400" y="3200400"/>
            <a:ext cx="3502152" cy="2084832"/>
          </a:xfrm>
          <a:prstGeom prst="roundRect">
            <a:avLst>
              <a:gd name="adj" fmla="val 1754"/>
            </a:avLst>
          </a:prstGeom>
          <a:solidFill>
            <a:srgbClr val="F5F0E8"/>
          </a:solidFill>
          <a:ln/>
        </p:spPr>
      </p:sp>
      <p:sp>
        <p:nvSpPr>
          <p:cNvPr id="13" name="Shape 11"/>
          <p:cNvSpPr/>
          <p:nvPr/>
        </p:nvSpPr>
        <p:spPr>
          <a:xfrm>
            <a:off x="4617720" y="3456432"/>
            <a:ext cx="274320" cy="274320"/>
          </a:xfrm>
          <a:prstGeom prst="ellipse">
            <a:avLst/>
          </a:prstGeom>
          <a:solidFill>
            <a:srgbClr val="A0471C"/>
          </a:solidFill>
          <a:ln/>
        </p:spPr>
      </p:sp>
      <p:sp>
        <p:nvSpPr>
          <p:cNvPr id="14" name="Text 12"/>
          <p:cNvSpPr/>
          <p:nvPr/>
        </p:nvSpPr>
        <p:spPr>
          <a:xfrm>
            <a:off x="4617720" y="345643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p:nvPr/>
        </p:nvSpPr>
        <p:spPr>
          <a:xfrm>
            <a:off x="4617720" y="3840480"/>
            <a:ext cx="2953512" cy="310896"/>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A points &amp; miles pillar</a:t>
            </a:r>
            <a:endParaRPr lang="en-US" sz="1500" dirty="0"/>
          </a:p>
        </p:txBody>
      </p:sp>
      <p:sp>
        <p:nvSpPr>
          <p:cNvPr id="16" name="Text 14"/>
          <p:cNvSpPr/>
          <p:nvPr/>
        </p:nvSpPr>
        <p:spPr>
          <a:xfrm>
            <a:off x="4617720" y="4206240"/>
            <a:ext cx="2953512" cy="914400"/>
          </a:xfrm>
          <a:prstGeom prst="rect">
            <a:avLst/>
          </a:prstGeom>
          <a:noFill/>
          <a:ln/>
        </p:spPr>
        <p:txBody>
          <a:bodyPr wrap="square" lIns="0" tIns="0" rIns="0" bIns="0" rtlCol="0" anchor="ctr"/>
          <a:lstStyle/>
          <a:p>
            <a:pPr indent="0" marL="0">
              <a:lnSpc>
                <a:spcPts val="1600"/>
              </a:lnSpc>
              <a:buNone/>
            </a:pPr>
            <a:r>
              <a:rPr lang="en-US" sz="1150" dirty="0">
                <a:solidFill>
                  <a:srgbClr val="6B5F58"/>
                </a:solidFill>
                <a:latin typeface="Calibri" pitchFamily="34" charset="0"/>
                <a:ea typeface="Calibri" pitchFamily="34" charset="-122"/>
                <a:cs typeface="Calibri" pitchFamily="34" charset="-120"/>
              </a:rPr>
              <a:t>Award travel is the highest-value vertical in the category, and it is a first-class section here rather than a footnote. The audience is self-selected and financially engaged.</a:t>
            </a:r>
            <a:endParaRPr lang="en-US" sz="1150" dirty="0"/>
          </a:p>
        </p:txBody>
      </p:sp>
      <p:sp>
        <p:nvSpPr>
          <p:cNvPr id="17" name="Shape 15"/>
          <p:cNvSpPr/>
          <p:nvPr/>
        </p:nvSpPr>
        <p:spPr>
          <a:xfrm>
            <a:off x="8119872" y="3200400"/>
            <a:ext cx="3502152" cy="2084832"/>
          </a:xfrm>
          <a:prstGeom prst="roundRect">
            <a:avLst>
              <a:gd name="adj" fmla="val 1754"/>
            </a:avLst>
          </a:prstGeom>
          <a:solidFill>
            <a:srgbClr val="F5F0E8"/>
          </a:solidFill>
          <a:ln/>
        </p:spPr>
      </p:sp>
      <p:sp>
        <p:nvSpPr>
          <p:cNvPr id="18" name="Shape 16"/>
          <p:cNvSpPr/>
          <p:nvPr/>
        </p:nvSpPr>
        <p:spPr>
          <a:xfrm>
            <a:off x="8394192" y="3456432"/>
            <a:ext cx="274320" cy="274320"/>
          </a:xfrm>
          <a:prstGeom prst="ellipse">
            <a:avLst/>
          </a:prstGeom>
          <a:solidFill>
            <a:srgbClr val="A0471C"/>
          </a:solidFill>
          <a:ln/>
        </p:spPr>
      </p:sp>
      <p:sp>
        <p:nvSpPr>
          <p:cNvPr id="19" name="Text 17"/>
          <p:cNvSpPr/>
          <p:nvPr/>
        </p:nvSpPr>
        <p:spPr>
          <a:xfrm>
            <a:off x="8394192" y="345643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p:nvPr/>
        </p:nvSpPr>
        <p:spPr>
          <a:xfrm>
            <a:off x="8394192" y="3840480"/>
            <a:ext cx="2953512" cy="310896"/>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A closed loop</a:t>
            </a:r>
            <a:endParaRPr lang="en-US" sz="1500" dirty="0"/>
          </a:p>
        </p:txBody>
      </p:sp>
      <p:sp>
        <p:nvSpPr>
          <p:cNvPr id="21" name="Text 19"/>
          <p:cNvSpPr/>
          <p:nvPr/>
        </p:nvSpPr>
        <p:spPr>
          <a:xfrm>
            <a:off x="8394192" y="4206240"/>
            <a:ext cx="2953512" cy="914400"/>
          </a:xfrm>
          <a:prstGeom prst="rect">
            <a:avLst/>
          </a:prstGeom>
          <a:noFill/>
          <a:ln/>
        </p:spPr>
        <p:txBody>
          <a:bodyPr wrap="square" lIns="0" tIns="0" rIns="0" bIns="0" rtlCol="0" anchor="ctr"/>
          <a:lstStyle/>
          <a:p>
            <a:pPr indent="0" marL="0">
              <a:lnSpc>
                <a:spcPts val="1600"/>
              </a:lnSpc>
              <a:buNone/>
            </a:pPr>
            <a:r>
              <a:rPr lang="en-US" sz="1150" dirty="0">
                <a:solidFill>
                  <a:srgbClr val="6B5F58"/>
                </a:solidFill>
                <a:latin typeface="Calibri" pitchFamily="34" charset="0"/>
                <a:ea typeface="Calibri" pitchFamily="34" charset="-122"/>
                <a:cs typeface="Calibri" pitchFamily="34" charset="-120"/>
              </a:rPr>
              <a:t>Site, newsletter, and app share one identity layer, so a campaign can start in editorial and finish in the inbox against the same segment.</a:t>
            </a:r>
            <a:endParaRPr lang="en-US" sz="1150" dirty="0"/>
          </a:p>
        </p:txBody>
      </p:sp>
      <p:sp>
        <p:nvSpPr>
          <p:cNvPr id="22" name="Text 20"/>
          <p:cNvSpPr/>
          <p:nvPr/>
        </p:nvSpPr>
        <p:spPr>
          <a:xfrm>
            <a:off x="566928" y="5632704"/>
            <a:ext cx="10881360" cy="310896"/>
          </a:xfrm>
          <a:prstGeom prst="rect">
            <a:avLst/>
          </a:prstGeom>
          <a:noFill/>
          <a:ln/>
        </p:spPr>
        <p:txBody>
          <a:bodyPr wrap="square" lIns="0" tIns="0" rIns="0" bIns="0" rtlCol="0" anchor="ctr"/>
          <a:lstStyle/>
          <a:p>
            <a:pPr indent="0" marL="0">
              <a:buNone/>
            </a:pPr>
            <a:r>
              <a:rPr lang="en-US" sz="1350" i="1" dirty="0">
                <a:solidFill>
                  <a:srgbClr val="A0471C"/>
                </a:solidFill>
                <a:latin typeface="Century Schoolbook" pitchFamily="34" charset="0"/>
                <a:ea typeface="Century Schoolbook" pitchFamily="34" charset="-122"/>
                <a:cs typeface="Century Schoolbook" pitchFamily="34" charset="-120"/>
              </a:rPr>
              <a:t>No paid rankings, ever. Sponsorship buys placement and attention — never a position in a ranking.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THE WEBSITE</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Four pillars, six regions, one honest voice.</a:t>
            </a:r>
            <a:endParaRPr lang="en-US" sz="3300" dirty="0"/>
          </a:p>
        </p:txBody>
      </p:sp>
      <p:sp>
        <p:nvSpPr>
          <p:cNvPr id="6" name="Text 4"/>
          <p:cNvSpPr/>
          <p:nvPr/>
        </p:nvSpPr>
        <p:spPr>
          <a:xfrm>
            <a:off x="566928" y="2322576"/>
            <a:ext cx="10881360" cy="786384"/>
          </a:xfrm>
          <a:prstGeom prst="rect">
            <a:avLst/>
          </a:prstGeom>
          <a:noFill/>
          <a:ln/>
        </p:spPr>
        <p:txBody>
          <a:bodyPr wrap="square" lIns="0" tIns="0" rIns="0" bIns="0" rtlCol="0" anchor="t"/>
          <a:lstStyle/>
          <a:p>
            <a:pPr indent="0" marL="0">
              <a:lnSpc>
                <a:spcPts val="2100"/>
              </a:lnSpc>
              <a:buNone/>
            </a:pPr>
            <a:r>
              <a:rPr lang="en-US" sz="1450" dirty="0">
                <a:solidFill>
                  <a:srgbClr val="3D3530"/>
                </a:solidFill>
                <a:latin typeface="Calibri" pitchFamily="34" charset="0"/>
                <a:ea typeface="Calibri" pitchFamily="34" charset="-122"/>
                <a:cs typeface="Calibri" pitchFamily="34" charset="-120"/>
              </a:rPr>
              <a:t>A hub-and-spoke library: region hubs feed country guides, country guides feed city and experience guides, and every guide routes back to the planning and points content that converts. You buy into that structure — a region, an experience type, a decision moment — not a run-of-network blur.</a:t>
            </a:r>
            <a:endParaRPr lang="en-US" sz="1450" dirty="0"/>
          </a:p>
        </p:txBody>
      </p:sp>
      <p:sp>
        <p:nvSpPr>
          <p:cNvPr id="7" name="Shape 5"/>
          <p:cNvSpPr/>
          <p:nvPr/>
        </p:nvSpPr>
        <p:spPr>
          <a:xfrm>
            <a:off x="566928" y="3163824"/>
            <a:ext cx="2592324" cy="2212848"/>
          </a:xfrm>
          <a:prstGeom prst="roundRect">
            <a:avLst>
              <a:gd name="adj" fmla="val 1653"/>
            </a:avLst>
          </a:prstGeom>
          <a:solidFill>
            <a:srgbClr val="F5F0E8"/>
          </a:solidFill>
          <a:ln/>
        </p:spPr>
      </p:sp>
      <p:sp>
        <p:nvSpPr>
          <p:cNvPr id="8" name="Text 6"/>
          <p:cNvSpPr/>
          <p:nvPr/>
        </p:nvSpPr>
        <p:spPr>
          <a:xfrm>
            <a:off x="804672" y="3364992"/>
            <a:ext cx="2135124" cy="219456"/>
          </a:xfrm>
          <a:prstGeom prst="rect">
            <a:avLst/>
          </a:prstGeom>
          <a:noFill/>
          <a:ln/>
        </p:spPr>
        <p:txBody>
          <a:bodyPr wrap="square" lIns="0" tIns="0" rIns="0" bIns="0" rtlCol="0" anchor="ctr"/>
          <a:lstStyle/>
          <a:p>
            <a:pPr indent="0" marL="0">
              <a:buNone/>
            </a:pPr>
            <a:r>
              <a:rPr lang="en-US" sz="900" b="1" spc="180" kern="0" dirty="0">
                <a:solidFill>
                  <a:srgbClr val="8A6620"/>
                </a:solidFill>
                <a:latin typeface="Calibri" pitchFamily="34" charset="0"/>
                <a:ea typeface="Calibri" pitchFamily="34" charset="-122"/>
                <a:cs typeface="Calibri" pitchFamily="34" charset="-120"/>
              </a:rPr>
              <a:t>PILLAR 1</a:t>
            </a:r>
            <a:endParaRPr lang="en-US" sz="900" dirty="0"/>
          </a:p>
        </p:txBody>
      </p:sp>
      <p:sp>
        <p:nvSpPr>
          <p:cNvPr id="9" name="Text 7"/>
          <p:cNvSpPr/>
          <p:nvPr/>
        </p:nvSpPr>
        <p:spPr>
          <a:xfrm>
            <a:off x="804672" y="3639312"/>
            <a:ext cx="2135124" cy="292608"/>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Destinations</a:t>
            </a:r>
            <a:endParaRPr lang="en-US" sz="1500" dirty="0"/>
          </a:p>
        </p:txBody>
      </p:sp>
      <p:sp>
        <p:nvSpPr>
          <p:cNvPr id="10" name="Text 8"/>
          <p:cNvSpPr/>
          <p:nvPr/>
        </p:nvSpPr>
        <p:spPr>
          <a:xfrm>
            <a:off x="804672" y="4005072"/>
            <a:ext cx="2135124" cy="1188720"/>
          </a:xfrm>
          <a:prstGeom prst="rect">
            <a:avLst/>
          </a:prstGeom>
          <a:noFill/>
          <a:ln/>
        </p:spPr>
        <p:txBody>
          <a:bodyPr wrap="square" lIns="0" tIns="0" rIns="0" bIns="0" rtlCol="0" anchor="ctr"/>
          <a:lstStyle/>
          <a:p>
            <a:pPr indent="0" marL="0">
              <a:lnSpc>
                <a:spcPts val="1550"/>
              </a:lnSpc>
              <a:buNone/>
            </a:pPr>
            <a:r>
              <a:rPr lang="en-US" sz="1100" dirty="0">
                <a:solidFill>
                  <a:srgbClr val="6B5F58"/>
                </a:solidFill>
                <a:latin typeface="Calibri" pitchFamily="34" charset="0"/>
                <a:ea typeface="Calibri" pitchFamily="34" charset="-122"/>
                <a:cs typeface="Calibri" pitchFamily="34" charset="-120"/>
              </a:rPr>
              <a:t>Europe, Asia, the Americas, Africa, the Pacific, the Middle East — region hubs down to city level, with freshness dates on every node.</a:t>
            </a:r>
            <a:endParaRPr lang="en-US" sz="1100" dirty="0"/>
          </a:p>
        </p:txBody>
      </p:sp>
      <p:sp>
        <p:nvSpPr>
          <p:cNvPr id="11" name="Shape 9"/>
          <p:cNvSpPr/>
          <p:nvPr/>
        </p:nvSpPr>
        <p:spPr>
          <a:xfrm>
            <a:off x="3387852" y="3163824"/>
            <a:ext cx="2592324" cy="2212848"/>
          </a:xfrm>
          <a:prstGeom prst="roundRect">
            <a:avLst>
              <a:gd name="adj" fmla="val 1653"/>
            </a:avLst>
          </a:prstGeom>
          <a:solidFill>
            <a:srgbClr val="F5F0E8"/>
          </a:solidFill>
          <a:ln/>
        </p:spPr>
      </p:sp>
      <p:sp>
        <p:nvSpPr>
          <p:cNvPr id="12" name="Text 10"/>
          <p:cNvSpPr/>
          <p:nvPr/>
        </p:nvSpPr>
        <p:spPr>
          <a:xfrm>
            <a:off x="3625596" y="3364992"/>
            <a:ext cx="2135124" cy="219456"/>
          </a:xfrm>
          <a:prstGeom prst="rect">
            <a:avLst/>
          </a:prstGeom>
          <a:noFill/>
          <a:ln/>
        </p:spPr>
        <p:txBody>
          <a:bodyPr wrap="square" lIns="0" tIns="0" rIns="0" bIns="0" rtlCol="0" anchor="ctr"/>
          <a:lstStyle/>
          <a:p>
            <a:pPr indent="0" marL="0">
              <a:buNone/>
            </a:pPr>
            <a:r>
              <a:rPr lang="en-US" sz="900" b="1" spc="180" kern="0" dirty="0">
                <a:solidFill>
                  <a:srgbClr val="8A6620"/>
                </a:solidFill>
                <a:latin typeface="Calibri" pitchFamily="34" charset="0"/>
                <a:ea typeface="Calibri" pitchFamily="34" charset="-122"/>
                <a:cs typeface="Calibri" pitchFamily="34" charset="-120"/>
              </a:rPr>
              <a:t>PILLAR 2</a:t>
            </a:r>
            <a:endParaRPr lang="en-US" sz="900" dirty="0"/>
          </a:p>
        </p:txBody>
      </p:sp>
      <p:sp>
        <p:nvSpPr>
          <p:cNvPr id="13" name="Text 11"/>
          <p:cNvSpPr/>
          <p:nvPr/>
        </p:nvSpPr>
        <p:spPr>
          <a:xfrm>
            <a:off x="3625596" y="3639312"/>
            <a:ext cx="2135124" cy="292608"/>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Experiences</a:t>
            </a:r>
            <a:endParaRPr lang="en-US" sz="1500" dirty="0"/>
          </a:p>
        </p:txBody>
      </p:sp>
      <p:sp>
        <p:nvSpPr>
          <p:cNvPr id="14" name="Text 12"/>
          <p:cNvSpPr/>
          <p:nvPr/>
        </p:nvSpPr>
        <p:spPr>
          <a:xfrm>
            <a:off x="3625596" y="4005072"/>
            <a:ext cx="2135124" cy="1188720"/>
          </a:xfrm>
          <a:prstGeom prst="rect">
            <a:avLst/>
          </a:prstGeom>
          <a:noFill/>
          <a:ln/>
        </p:spPr>
        <p:txBody>
          <a:bodyPr wrap="square" lIns="0" tIns="0" rIns="0" bIns="0" rtlCol="0" anchor="ctr"/>
          <a:lstStyle/>
          <a:p>
            <a:pPr indent="0" marL="0">
              <a:lnSpc>
                <a:spcPts val="1550"/>
              </a:lnSpc>
              <a:buNone/>
            </a:pPr>
            <a:r>
              <a:rPr lang="en-US" sz="1100" dirty="0">
                <a:solidFill>
                  <a:srgbClr val="6B5F58"/>
                </a:solidFill>
                <a:latin typeface="Calibri" pitchFamily="34" charset="0"/>
                <a:ea typeface="Calibri" pitchFamily="34" charset="-122"/>
                <a:cs typeface="Calibri" pitchFamily="34" charset="-120"/>
              </a:rPr>
              <a:t>Adventure, food &amp; drink, culture &amp; art, wellness. Readers filter by how they travel, not only where — which is how brands want to target.</a:t>
            </a:r>
            <a:endParaRPr lang="en-US" sz="1100" dirty="0"/>
          </a:p>
        </p:txBody>
      </p:sp>
      <p:sp>
        <p:nvSpPr>
          <p:cNvPr id="15" name="Shape 13"/>
          <p:cNvSpPr/>
          <p:nvPr/>
        </p:nvSpPr>
        <p:spPr>
          <a:xfrm>
            <a:off x="6208776" y="3163824"/>
            <a:ext cx="2592324" cy="2212848"/>
          </a:xfrm>
          <a:prstGeom prst="roundRect">
            <a:avLst>
              <a:gd name="adj" fmla="val 1653"/>
            </a:avLst>
          </a:prstGeom>
          <a:solidFill>
            <a:srgbClr val="F5F0E8"/>
          </a:solidFill>
          <a:ln/>
        </p:spPr>
      </p:sp>
      <p:sp>
        <p:nvSpPr>
          <p:cNvPr id="16" name="Text 14"/>
          <p:cNvSpPr/>
          <p:nvPr/>
        </p:nvSpPr>
        <p:spPr>
          <a:xfrm>
            <a:off x="6446520" y="3364992"/>
            <a:ext cx="2135124" cy="219456"/>
          </a:xfrm>
          <a:prstGeom prst="rect">
            <a:avLst/>
          </a:prstGeom>
          <a:noFill/>
          <a:ln/>
        </p:spPr>
        <p:txBody>
          <a:bodyPr wrap="square" lIns="0" tIns="0" rIns="0" bIns="0" rtlCol="0" anchor="ctr"/>
          <a:lstStyle/>
          <a:p>
            <a:pPr indent="0" marL="0">
              <a:buNone/>
            </a:pPr>
            <a:r>
              <a:rPr lang="en-US" sz="900" b="1" spc="180" kern="0" dirty="0">
                <a:solidFill>
                  <a:srgbClr val="8A6620"/>
                </a:solidFill>
                <a:latin typeface="Calibri" pitchFamily="34" charset="0"/>
                <a:ea typeface="Calibri" pitchFamily="34" charset="-122"/>
                <a:cs typeface="Calibri" pitchFamily="34" charset="-120"/>
              </a:rPr>
              <a:t>PILLAR 3</a:t>
            </a:r>
            <a:endParaRPr lang="en-US" sz="900" dirty="0"/>
          </a:p>
        </p:txBody>
      </p:sp>
      <p:sp>
        <p:nvSpPr>
          <p:cNvPr id="17" name="Text 15"/>
          <p:cNvSpPr/>
          <p:nvPr/>
        </p:nvSpPr>
        <p:spPr>
          <a:xfrm>
            <a:off x="6446520" y="3639312"/>
            <a:ext cx="2135124" cy="292608"/>
          </a:xfrm>
          <a:prstGeom prst="rect">
            <a:avLst/>
          </a:prstGeom>
          <a:noFill/>
          <a:ln/>
        </p:spPr>
        <p:txBody>
          <a:bodyPr wrap="square" lIns="0" tIns="0" rIns="0" bIns="0" rtlCol="0" anchor="ctr"/>
          <a:lstStyle/>
          <a:p>
            <a:pPr indent="0" marL="0">
              <a:buNone/>
            </a:pPr>
            <a:r>
              <a:rPr lang="en-US" sz="1500" b="1" dirty="0">
                <a:solidFill>
                  <a:srgbClr val="1A1714"/>
                </a:solidFill>
                <a:latin typeface="Century Schoolbook" pitchFamily="34" charset="0"/>
                <a:ea typeface="Century Schoolbook" pitchFamily="34" charset="-122"/>
                <a:cs typeface="Century Schoolbook" pitchFamily="34" charset="-120"/>
              </a:rPr>
              <a:t>Travel Guides</a:t>
            </a:r>
            <a:endParaRPr lang="en-US" sz="1500" dirty="0"/>
          </a:p>
        </p:txBody>
      </p:sp>
      <p:sp>
        <p:nvSpPr>
          <p:cNvPr id="18" name="Text 16"/>
          <p:cNvSpPr/>
          <p:nvPr/>
        </p:nvSpPr>
        <p:spPr>
          <a:xfrm>
            <a:off x="6446520" y="4005072"/>
            <a:ext cx="2135124" cy="1188720"/>
          </a:xfrm>
          <a:prstGeom prst="rect">
            <a:avLst/>
          </a:prstGeom>
          <a:noFill/>
          <a:ln/>
        </p:spPr>
        <p:txBody>
          <a:bodyPr wrap="square" lIns="0" tIns="0" rIns="0" bIns="0" rtlCol="0" anchor="ctr"/>
          <a:lstStyle/>
          <a:p>
            <a:pPr indent="0" marL="0">
              <a:lnSpc>
                <a:spcPts val="1550"/>
              </a:lnSpc>
              <a:buNone/>
            </a:pPr>
            <a:r>
              <a:rPr lang="en-US" sz="1100" dirty="0">
                <a:solidFill>
                  <a:srgbClr val="6B5F58"/>
                </a:solidFill>
                <a:latin typeface="Calibri" pitchFamily="34" charset="0"/>
                <a:ea typeface="Calibri" pitchFamily="34" charset="-122"/>
                <a:cs typeface="Calibri" pitchFamily="34" charset="-120"/>
              </a:rPr>
              <a:t>Visas, best-time-to-visit, insurance, packing, safety, airports, booking windows. Highest intent on the site, and the last thing read before booking.</a:t>
            </a:r>
            <a:endParaRPr lang="en-US" sz="1100" dirty="0"/>
          </a:p>
        </p:txBody>
      </p:sp>
      <p:sp>
        <p:nvSpPr>
          <p:cNvPr id="19" name="Shape 17"/>
          <p:cNvSpPr/>
          <p:nvPr/>
        </p:nvSpPr>
        <p:spPr>
          <a:xfrm>
            <a:off x="9029700" y="3163824"/>
            <a:ext cx="2592324" cy="2212848"/>
          </a:xfrm>
          <a:prstGeom prst="roundRect">
            <a:avLst>
              <a:gd name="adj" fmla="val 1653"/>
            </a:avLst>
          </a:prstGeom>
          <a:solidFill>
            <a:srgbClr val="1A2634"/>
          </a:solidFill>
          <a:ln/>
        </p:spPr>
      </p:sp>
      <p:sp>
        <p:nvSpPr>
          <p:cNvPr id="20" name="Text 18"/>
          <p:cNvSpPr/>
          <p:nvPr/>
        </p:nvSpPr>
        <p:spPr>
          <a:xfrm>
            <a:off x="9267444" y="3364992"/>
            <a:ext cx="2135124" cy="219456"/>
          </a:xfrm>
          <a:prstGeom prst="rect">
            <a:avLst/>
          </a:prstGeom>
          <a:noFill/>
          <a:ln/>
        </p:spPr>
        <p:txBody>
          <a:bodyPr wrap="square" lIns="0" tIns="0" rIns="0" bIns="0" rtlCol="0" anchor="ctr"/>
          <a:lstStyle/>
          <a:p>
            <a:pPr indent="0" marL="0">
              <a:buNone/>
            </a:pPr>
            <a:r>
              <a:rPr lang="en-US" sz="900" b="1" spc="180" kern="0" dirty="0">
                <a:solidFill>
                  <a:srgbClr val="D4A843"/>
                </a:solidFill>
                <a:latin typeface="Calibri" pitchFamily="34" charset="0"/>
                <a:ea typeface="Calibri" pitchFamily="34" charset="-122"/>
                <a:cs typeface="Calibri" pitchFamily="34" charset="-120"/>
              </a:rPr>
              <a:t>PILLAR 4</a:t>
            </a:r>
            <a:endParaRPr lang="en-US" sz="900" dirty="0"/>
          </a:p>
        </p:txBody>
      </p:sp>
      <p:sp>
        <p:nvSpPr>
          <p:cNvPr id="21" name="Text 19"/>
          <p:cNvSpPr/>
          <p:nvPr/>
        </p:nvSpPr>
        <p:spPr>
          <a:xfrm>
            <a:off x="9267444" y="3639312"/>
            <a:ext cx="2135124" cy="292608"/>
          </a:xfrm>
          <a:prstGeom prst="rect">
            <a:avLst/>
          </a:prstGeom>
          <a:noFill/>
          <a:ln/>
        </p:spPr>
        <p:txBody>
          <a:bodyPr wrap="square" lIns="0" tIns="0" rIns="0" bIns="0" rtlCol="0" anchor="ctr"/>
          <a:lstStyle/>
          <a:p>
            <a:pPr indent="0" marL="0">
              <a:buNone/>
            </a:pPr>
            <a:r>
              <a:rPr lang="en-US" sz="1500" b="1" dirty="0">
                <a:solidFill>
                  <a:srgbClr val="F2EDE4"/>
                </a:solidFill>
                <a:latin typeface="Century Schoolbook" pitchFamily="34" charset="0"/>
                <a:ea typeface="Century Schoolbook" pitchFamily="34" charset="-122"/>
                <a:cs typeface="Century Schoolbook" pitchFamily="34" charset="-120"/>
              </a:rPr>
              <a:t>Points &amp; Miles</a:t>
            </a:r>
            <a:endParaRPr lang="en-US" sz="1500" dirty="0"/>
          </a:p>
        </p:txBody>
      </p:sp>
      <p:sp>
        <p:nvSpPr>
          <p:cNvPr id="22" name="Text 20"/>
          <p:cNvSpPr/>
          <p:nvPr/>
        </p:nvSpPr>
        <p:spPr>
          <a:xfrm>
            <a:off x="9267444" y="4005072"/>
            <a:ext cx="2135124" cy="1188720"/>
          </a:xfrm>
          <a:prstGeom prst="rect">
            <a:avLst/>
          </a:prstGeom>
          <a:noFill/>
          <a:ln/>
        </p:spPr>
        <p:txBody>
          <a:bodyPr wrap="square" lIns="0" tIns="0" rIns="0" bIns="0" rtlCol="0" anchor="ctr"/>
          <a:lstStyle/>
          <a:p>
            <a:pPr indent="0" marL="0">
              <a:lnSpc>
                <a:spcPts val="1550"/>
              </a:lnSpc>
              <a:buNone/>
            </a:pPr>
            <a:r>
              <a:rPr lang="en-US" sz="1100" dirty="0">
                <a:solidFill>
                  <a:srgbClr val="9AA9B8"/>
                </a:solidFill>
                <a:latin typeface="Calibri" pitchFamily="34" charset="0"/>
                <a:ea typeface="Calibri" pitchFamily="34" charset="-122"/>
                <a:cs typeface="Calibri" pitchFamily="34" charset="-120"/>
              </a:rPr>
              <a:t>Card bonuses, transfer sweet spots, hotel redemptions, tracked weekly. Premium CPMs and the strongest card-acquisition audience we have.</a:t>
            </a:r>
            <a:endParaRPr lang="en-US" sz="1100" dirty="0"/>
          </a:p>
        </p:txBody>
      </p:sp>
      <p:sp>
        <p:nvSpPr>
          <p:cNvPr id="23" name="Text 21"/>
          <p:cNvSpPr/>
          <p:nvPr/>
        </p:nvSpPr>
        <p:spPr>
          <a:xfrm>
            <a:off x="566928" y="5632704"/>
            <a:ext cx="10881360" cy="292608"/>
          </a:xfrm>
          <a:prstGeom prst="rect">
            <a:avLst/>
          </a:prstGeom>
          <a:noFill/>
          <a:ln/>
        </p:spPr>
        <p:txBody>
          <a:bodyPr wrap="square" lIns="0" tIns="0" rIns="0" bIns="0" rtlCol="0" anchor="ctr"/>
          <a:lstStyle/>
          <a:p>
            <a:pPr indent="0" marL="0">
              <a:buNone/>
            </a:pPr>
            <a:r>
              <a:rPr lang="en-US" sz="1150" i="1" dirty="0">
                <a:solidFill>
                  <a:srgbClr val="6B5F58"/>
                </a:solidFill>
                <a:latin typeface="Calibri" pitchFamily="34" charset="0"/>
                <a:ea typeface="Calibri" pitchFamily="34" charset="-122"/>
                <a:cs typeface="Calibri" pitchFamily="34" charset="-120"/>
              </a:rPr>
              <a:t>Full traffic, geography, and viewability reporting is shared on request under NDA.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THE WEBSITE</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Three surfaces past the guides.</a:t>
            </a:r>
            <a:endParaRPr lang="en-US" sz="3300" dirty="0"/>
          </a:p>
        </p:txBody>
      </p:sp>
      <p:sp>
        <p:nvSpPr>
          <p:cNvPr id="6" name="Shape 4"/>
          <p:cNvSpPr/>
          <p:nvPr/>
        </p:nvSpPr>
        <p:spPr>
          <a:xfrm>
            <a:off x="566928" y="2487168"/>
            <a:ext cx="384048" cy="384048"/>
          </a:xfrm>
          <a:prstGeom prst="ellipse">
            <a:avLst/>
          </a:prstGeom>
          <a:solidFill>
            <a:srgbClr val="A0471C"/>
          </a:solidFill>
          <a:ln/>
        </p:spPr>
      </p:sp>
      <p:sp>
        <p:nvSpPr>
          <p:cNvPr id="7" name="Text 5"/>
          <p:cNvSpPr/>
          <p:nvPr/>
        </p:nvSpPr>
        <p:spPr>
          <a:xfrm>
            <a:off x="566928"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70432" y="2450592"/>
            <a:ext cx="3749040" cy="365760"/>
          </a:xfrm>
          <a:prstGeom prst="rect">
            <a:avLst/>
          </a:prstGeom>
          <a:noFill/>
          <a:ln/>
        </p:spPr>
        <p:txBody>
          <a:bodyPr wrap="square" lIns="0" tIns="0" rIns="0" bIns="0" rtlCol="0" anchor="ctr"/>
          <a:lstStyle/>
          <a:p>
            <a:pPr indent="0" marL="0">
              <a:buNone/>
            </a:pPr>
            <a:r>
              <a:rPr lang="en-US" sz="1700" b="1" dirty="0">
                <a:solidFill>
                  <a:srgbClr val="1A1714"/>
                </a:solidFill>
                <a:latin typeface="Century Schoolbook" pitchFamily="34" charset="0"/>
                <a:ea typeface="Century Schoolbook" pitchFamily="34" charset="-122"/>
                <a:cs typeface="Century Schoolbook" pitchFamily="34" charset="-120"/>
              </a:rPr>
              <a:t>AI Trip Planner</a:t>
            </a:r>
            <a:endParaRPr lang="en-US" sz="1700" dirty="0"/>
          </a:p>
        </p:txBody>
      </p:sp>
      <p:sp>
        <p:nvSpPr>
          <p:cNvPr id="9" name="Text 7"/>
          <p:cNvSpPr/>
          <p:nvPr/>
        </p:nvSpPr>
        <p:spPr>
          <a:xfrm>
            <a:off x="5047488" y="2432304"/>
            <a:ext cx="6620256" cy="1005840"/>
          </a:xfrm>
          <a:prstGeom prst="rect">
            <a:avLst/>
          </a:prstGeom>
          <a:noFill/>
          <a:ln/>
        </p:spPr>
        <p:txBody>
          <a:bodyPr wrap="square" lIns="0" tIns="0" rIns="0" bIns="0" rtlCol="0" anchor="ctr"/>
          <a:lstStyle/>
          <a:p>
            <a:pPr indent="0" marL="0">
              <a:lnSpc>
                <a:spcPts val="1800"/>
              </a:lnSpc>
              <a:buNone/>
            </a:pPr>
            <a:r>
              <a:rPr lang="en-US" sz="1250" dirty="0">
                <a:solidFill>
                  <a:srgbClr val="3D3530"/>
                </a:solidFill>
                <a:latin typeface="Calibri" pitchFamily="34" charset="0"/>
                <a:ea typeface="Calibri" pitchFamily="34" charset="-122"/>
                <a:cs typeface="Calibri" pitchFamily="34" charset="-120"/>
              </a:rPr>
              <a:t>Readers enter dates, budget, party, and trip type, and get a day-by-day itinerary with a costed breakdown plus live hotel and flight options. Every plan is a declared intent — destination, dates, budget band — and sponsorable as such. The highest-intent inventory on the property.</a:t>
            </a:r>
            <a:endParaRPr lang="en-US" sz="1250" dirty="0"/>
          </a:p>
        </p:txBody>
      </p:sp>
      <p:sp>
        <p:nvSpPr>
          <p:cNvPr id="10" name="Shape 8"/>
          <p:cNvSpPr/>
          <p:nvPr/>
        </p:nvSpPr>
        <p:spPr>
          <a:xfrm>
            <a:off x="566928" y="3785616"/>
            <a:ext cx="384048" cy="384048"/>
          </a:xfrm>
          <a:prstGeom prst="ellipse">
            <a:avLst/>
          </a:prstGeom>
          <a:solidFill>
            <a:srgbClr val="1A2634"/>
          </a:solidFill>
          <a:ln/>
        </p:spPr>
      </p:sp>
      <p:sp>
        <p:nvSpPr>
          <p:cNvPr id="11" name="Text 9"/>
          <p:cNvSpPr/>
          <p:nvPr/>
        </p:nvSpPr>
        <p:spPr>
          <a:xfrm>
            <a:off x="566928" y="3785616"/>
            <a:ext cx="384048" cy="384048"/>
          </a:xfrm>
          <a:prstGeom prst="rect">
            <a:avLst/>
          </a:prstGeom>
          <a:noFill/>
          <a:ln/>
        </p:spPr>
        <p:txBody>
          <a:bodyPr wrap="square" lIns="0" tIns="0" rIns="0" bIns="0" rtlCol="0" anchor="ctr"/>
          <a:lstStyle/>
          <a:p>
            <a:pPr algn="ctr" indent="0" marL="0">
              <a:buNone/>
            </a:pPr>
            <a:r>
              <a:rPr lang="en-US" sz="1300" b="1" dirty="0">
                <a:solidFill>
                  <a:srgbClr val="D4A843"/>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70432" y="3749040"/>
            <a:ext cx="3749040" cy="365760"/>
          </a:xfrm>
          <a:prstGeom prst="rect">
            <a:avLst/>
          </a:prstGeom>
          <a:noFill/>
          <a:ln/>
        </p:spPr>
        <p:txBody>
          <a:bodyPr wrap="square" lIns="0" tIns="0" rIns="0" bIns="0" rtlCol="0" anchor="ctr"/>
          <a:lstStyle/>
          <a:p>
            <a:pPr indent="0" marL="0">
              <a:buNone/>
            </a:pPr>
            <a:r>
              <a:rPr lang="en-US" sz="1700" b="1" dirty="0">
                <a:solidFill>
                  <a:srgbClr val="1A1714"/>
                </a:solidFill>
                <a:latin typeface="Century Schoolbook" pitchFamily="34" charset="0"/>
                <a:ea typeface="Century Schoolbook" pitchFamily="34" charset="-122"/>
                <a:cs typeface="Century Schoolbook" pitchFamily="34" charset="-120"/>
              </a:rPr>
              <a:t>Native app · iOS &amp; Android</a:t>
            </a:r>
            <a:endParaRPr lang="en-US" sz="1700" dirty="0"/>
          </a:p>
        </p:txBody>
      </p:sp>
      <p:sp>
        <p:nvSpPr>
          <p:cNvPr id="13" name="Text 11"/>
          <p:cNvSpPr/>
          <p:nvPr/>
        </p:nvSpPr>
        <p:spPr>
          <a:xfrm>
            <a:off x="5047488" y="3730752"/>
            <a:ext cx="6620256" cy="1005840"/>
          </a:xfrm>
          <a:prstGeom prst="rect">
            <a:avLst/>
          </a:prstGeom>
          <a:noFill/>
          <a:ln/>
        </p:spPr>
        <p:txBody>
          <a:bodyPr wrap="square" lIns="0" tIns="0" rIns="0" bIns="0" rtlCol="0" anchor="ctr"/>
          <a:lstStyle/>
          <a:p>
            <a:pPr indent="0" marL="0">
              <a:lnSpc>
                <a:spcPts val="1800"/>
              </a:lnSpc>
              <a:buNone/>
            </a:pPr>
            <a:r>
              <a:rPr lang="en-US" sz="1250" dirty="0">
                <a:solidFill>
                  <a:srgbClr val="3D3530"/>
                </a:solidFill>
                <a:latin typeface="Calibri" pitchFamily="34" charset="0"/>
                <a:ea typeface="Calibri" pitchFamily="34" charset="-122"/>
                <a:cs typeface="Calibri" pitchFamily="34" charset="-120"/>
              </a:rPr>
              <a:t>Guides, saved trips, and planner access behind a sign-in, giving a persistent identity and a push channel alongside email.</a:t>
            </a:r>
            <a:endParaRPr lang="en-US" sz="1250" dirty="0"/>
          </a:p>
        </p:txBody>
      </p:sp>
      <p:sp>
        <p:nvSpPr>
          <p:cNvPr id="14" name="Shape 12"/>
          <p:cNvSpPr/>
          <p:nvPr/>
        </p:nvSpPr>
        <p:spPr>
          <a:xfrm>
            <a:off x="566928" y="5084064"/>
            <a:ext cx="384048" cy="384048"/>
          </a:xfrm>
          <a:prstGeom prst="ellipse">
            <a:avLst/>
          </a:prstGeom>
          <a:solidFill>
            <a:srgbClr val="1A2634"/>
          </a:solidFill>
          <a:ln/>
        </p:spPr>
      </p:sp>
      <p:sp>
        <p:nvSpPr>
          <p:cNvPr id="15" name="Text 13"/>
          <p:cNvSpPr/>
          <p:nvPr/>
        </p:nvSpPr>
        <p:spPr>
          <a:xfrm>
            <a:off x="566928" y="5084064"/>
            <a:ext cx="384048" cy="384048"/>
          </a:xfrm>
          <a:prstGeom prst="rect">
            <a:avLst/>
          </a:prstGeom>
          <a:noFill/>
          <a:ln/>
        </p:spPr>
        <p:txBody>
          <a:bodyPr wrap="square" lIns="0" tIns="0" rIns="0" bIns="0" rtlCol="0" anchor="ctr"/>
          <a:lstStyle/>
          <a:p>
            <a:pPr algn="ctr" indent="0" marL="0">
              <a:buNone/>
            </a:pPr>
            <a:r>
              <a:rPr lang="en-US" sz="1300" b="1" dirty="0">
                <a:solidFill>
                  <a:srgbClr val="D4A843"/>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70432" y="5047488"/>
            <a:ext cx="3749040" cy="365760"/>
          </a:xfrm>
          <a:prstGeom prst="rect">
            <a:avLst/>
          </a:prstGeom>
          <a:noFill/>
          <a:ln/>
        </p:spPr>
        <p:txBody>
          <a:bodyPr wrap="square" lIns="0" tIns="0" rIns="0" bIns="0" rtlCol="0" anchor="ctr"/>
          <a:lstStyle/>
          <a:p>
            <a:pPr indent="0" marL="0">
              <a:buNone/>
            </a:pPr>
            <a:r>
              <a:rPr lang="en-US" sz="1700" b="1" dirty="0">
                <a:solidFill>
                  <a:srgbClr val="1A1714"/>
                </a:solidFill>
                <a:latin typeface="Century Schoolbook" pitchFamily="34" charset="0"/>
                <a:ea typeface="Century Schoolbook" pitchFamily="34" charset="-122"/>
                <a:cs typeface="Century Schoolbook" pitchFamily="34" charset="-120"/>
              </a:rPr>
              <a:t>Live commerce rails</a:t>
            </a:r>
            <a:endParaRPr lang="en-US" sz="1700" dirty="0"/>
          </a:p>
        </p:txBody>
      </p:sp>
      <p:sp>
        <p:nvSpPr>
          <p:cNvPr id="17" name="Text 15"/>
          <p:cNvSpPr/>
          <p:nvPr/>
        </p:nvSpPr>
        <p:spPr>
          <a:xfrm>
            <a:off x="5047488" y="5029200"/>
            <a:ext cx="6620256" cy="1005840"/>
          </a:xfrm>
          <a:prstGeom prst="rect">
            <a:avLst/>
          </a:prstGeom>
          <a:noFill/>
          <a:ln/>
        </p:spPr>
        <p:txBody>
          <a:bodyPr wrap="square" lIns="0" tIns="0" rIns="0" bIns="0" rtlCol="0" anchor="ctr"/>
          <a:lstStyle/>
          <a:p>
            <a:pPr indent="0" marL="0">
              <a:lnSpc>
                <a:spcPts val="1800"/>
              </a:lnSpc>
              <a:buNone/>
            </a:pPr>
            <a:r>
              <a:rPr lang="en-US" sz="1250" dirty="0">
                <a:solidFill>
                  <a:srgbClr val="3D3530"/>
                </a:solidFill>
                <a:latin typeface="Calibri" pitchFamily="34" charset="0"/>
                <a:ea typeface="Calibri" pitchFamily="34" charset="-122"/>
                <a:cs typeface="Calibri" pitchFamily="34" charset="-120"/>
              </a:rPr>
              <a:t>Hotels, vacation rentals, packages, cars, tours, and activities all route through live affiliate integrations with Expedia Group, Viator, and GetYourGuide. Booking behaviour is measured, not assumed.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634"/>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E08048"/>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1A2634"/>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D4A843"/>
                </a:solidFill>
                <a:latin typeface="Calibri" pitchFamily="34" charset="0"/>
                <a:ea typeface="Calibri" pitchFamily="34" charset="-122"/>
                <a:cs typeface="Calibri" pitchFamily="34" charset="-120"/>
              </a:rPr>
              <a:t>THE NEWSLETTER</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F2EDE4"/>
                </a:solidFill>
                <a:latin typeface="Century Schoolbook" pitchFamily="34" charset="0"/>
                <a:ea typeface="Century Schoolbook" pitchFamily="34" charset="-122"/>
                <a:cs typeface="Century Schoolbook" pitchFamily="34" charset="-120"/>
              </a:rPr>
              <a:t>60,000 travelers. Half of them open it. A tenth of them click.</a:t>
            </a:r>
            <a:endParaRPr lang="en-US" sz="3300" dirty="0"/>
          </a:p>
        </p:txBody>
      </p:sp>
      <p:sp>
        <p:nvSpPr>
          <p:cNvPr id="6" name="Text 4"/>
          <p:cNvSpPr/>
          <p:nvPr/>
        </p:nvSpPr>
        <p:spPr>
          <a:xfrm>
            <a:off x="566928" y="2322576"/>
            <a:ext cx="10881360" cy="786384"/>
          </a:xfrm>
          <a:prstGeom prst="rect">
            <a:avLst/>
          </a:prstGeom>
          <a:noFill/>
          <a:ln/>
        </p:spPr>
        <p:txBody>
          <a:bodyPr wrap="square" lIns="0" tIns="0" rIns="0" bIns="0" rtlCol="0" anchor="t"/>
          <a:lstStyle/>
          <a:p>
            <a:pPr indent="0" marL="0">
              <a:lnSpc>
                <a:spcPts val="2100"/>
              </a:lnSpc>
              <a:buNone/>
            </a:pPr>
            <a:r>
              <a:rPr lang="en-US" sz="1450" dirty="0">
                <a:solidFill>
                  <a:srgbClr val="9AA9B8"/>
                </a:solidFill>
                <a:latin typeface="Calibri" pitchFamily="34" charset="0"/>
                <a:ea typeface="Calibri" pitchFamily="34" charset="-122"/>
                <a:cs typeface="Calibri" pitchFamily="34" charset="-120"/>
              </a:rPr>
              <a:t>One flagship issue every Tuesday, plus a Friday award-travel drop to the points and miles segment. The list is grown from editorial, not bought or co-registered — which is why the engagement holds where most travel lists sag.</a:t>
            </a:r>
            <a:endParaRPr lang="en-US" sz="1450" dirty="0"/>
          </a:p>
        </p:txBody>
      </p:sp>
      <p:sp>
        <p:nvSpPr>
          <p:cNvPr id="7" name="Shape 5"/>
          <p:cNvSpPr/>
          <p:nvPr/>
        </p:nvSpPr>
        <p:spPr>
          <a:xfrm>
            <a:off x="566928" y="3182112"/>
            <a:ext cx="3502152" cy="1792224"/>
          </a:xfrm>
          <a:prstGeom prst="roundRect">
            <a:avLst>
              <a:gd name="adj" fmla="val 2041"/>
            </a:avLst>
          </a:prstGeom>
          <a:solidFill>
            <a:srgbClr val="16202C"/>
          </a:solidFill>
          <a:ln/>
        </p:spPr>
      </p:sp>
      <p:sp>
        <p:nvSpPr>
          <p:cNvPr id="8" name="Text 6"/>
          <p:cNvSpPr/>
          <p:nvPr/>
        </p:nvSpPr>
        <p:spPr>
          <a:xfrm>
            <a:off x="841248" y="3383280"/>
            <a:ext cx="2953512" cy="219456"/>
          </a:xfrm>
          <a:prstGeom prst="rect">
            <a:avLst/>
          </a:prstGeom>
          <a:noFill/>
          <a:ln/>
        </p:spPr>
        <p:txBody>
          <a:bodyPr wrap="square" lIns="0" tIns="0" rIns="0" bIns="0" rtlCol="0" anchor="ctr"/>
          <a:lstStyle/>
          <a:p>
            <a:pPr indent="0" marL="0">
              <a:buNone/>
            </a:pPr>
            <a:r>
              <a:rPr lang="en-US" sz="950" b="1" spc="200" kern="0" dirty="0">
                <a:solidFill>
                  <a:srgbClr val="D4A843"/>
                </a:solidFill>
                <a:latin typeface="Calibri" pitchFamily="34" charset="0"/>
                <a:ea typeface="Calibri" pitchFamily="34" charset="-122"/>
                <a:cs typeface="Calibri" pitchFamily="34" charset="-120"/>
              </a:rPr>
              <a:t>SUBSCRIBERS</a:t>
            </a:r>
            <a:endParaRPr lang="en-US" sz="950" dirty="0"/>
          </a:p>
        </p:txBody>
      </p:sp>
      <p:sp>
        <p:nvSpPr>
          <p:cNvPr id="9" name="Text 7"/>
          <p:cNvSpPr/>
          <p:nvPr/>
        </p:nvSpPr>
        <p:spPr>
          <a:xfrm>
            <a:off x="841248" y="3621024"/>
            <a:ext cx="2953512" cy="694944"/>
          </a:xfrm>
          <a:prstGeom prst="rect">
            <a:avLst/>
          </a:prstGeom>
          <a:noFill/>
          <a:ln/>
        </p:spPr>
        <p:txBody>
          <a:bodyPr wrap="square" lIns="0" tIns="0" rIns="0" bIns="0" rtlCol="0" anchor="ctr"/>
          <a:lstStyle/>
          <a:p>
            <a:pPr indent="0" marL="0">
              <a:buNone/>
            </a:pPr>
            <a:r>
              <a:rPr lang="en-US" sz="4400" b="1" dirty="0">
                <a:solidFill>
                  <a:srgbClr val="F2EDE4"/>
                </a:solidFill>
                <a:latin typeface="Century Schoolbook" pitchFamily="34" charset="0"/>
                <a:ea typeface="Century Schoolbook" pitchFamily="34" charset="-122"/>
                <a:cs typeface="Century Schoolbook" pitchFamily="34" charset="-120"/>
              </a:rPr>
              <a:t>60,000</a:t>
            </a:r>
            <a:endParaRPr lang="en-US" sz="4400" dirty="0"/>
          </a:p>
        </p:txBody>
      </p:sp>
      <p:sp>
        <p:nvSpPr>
          <p:cNvPr id="10" name="Text 8"/>
          <p:cNvSpPr/>
          <p:nvPr/>
        </p:nvSpPr>
        <p:spPr>
          <a:xfrm>
            <a:off x="841248" y="4334256"/>
            <a:ext cx="2953512" cy="548640"/>
          </a:xfrm>
          <a:prstGeom prst="rect">
            <a:avLst/>
          </a:prstGeom>
          <a:noFill/>
          <a:ln/>
        </p:spPr>
        <p:txBody>
          <a:bodyPr wrap="square" lIns="0" tIns="0" rIns="0" bIns="0" rtlCol="0" anchor="ctr"/>
          <a:lstStyle/>
          <a:p>
            <a:pPr indent="0" marL="0">
              <a:lnSpc>
                <a:spcPts val="1450"/>
              </a:lnSpc>
              <a:buNone/>
            </a:pPr>
            <a:r>
              <a:rPr lang="en-US" sz="1050" dirty="0">
                <a:solidFill>
                  <a:srgbClr val="9AA9B8"/>
                </a:solidFill>
                <a:latin typeface="Calibri" pitchFamily="34" charset="0"/>
                <a:ea typeface="Calibri" pitchFamily="34" charset="-122"/>
                <a:cs typeface="Calibri" pitchFamily="34" charset="-120"/>
              </a:rPr>
              <a:t>Opt-in, single-source, grown from on-site editorial.</a:t>
            </a:r>
            <a:endParaRPr lang="en-US" sz="1050" dirty="0"/>
          </a:p>
        </p:txBody>
      </p:sp>
      <p:sp>
        <p:nvSpPr>
          <p:cNvPr id="11" name="Shape 9"/>
          <p:cNvSpPr/>
          <p:nvPr/>
        </p:nvSpPr>
        <p:spPr>
          <a:xfrm>
            <a:off x="4343400" y="3182112"/>
            <a:ext cx="3502152" cy="1792224"/>
          </a:xfrm>
          <a:prstGeom prst="roundRect">
            <a:avLst>
              <a:gd name="adj" fmla="val 2041"/>
            </a:avLst>
          </a:prstGeom>
          <a:solidFill>
            <a:srgbClr val="16202C"/>
          </a:solidFill>
          <a:ln/>
        </p:spPr>
      </p:sp>
      <p:sp>
        <p:nvSpPr>
          <p:cNvPr id="12" name="Text 10"/>
          <p:cNvSpPr/>
          <p:nvPr/>
        </p:nvSpPr>
        <p:spPr>
          <a:xfrm>
            <a:off x="4617720" y="3383280"/>
            <a:ext cx="2953512" cy="219456"/>
          </a:xfrm>
          <a:prstGeom prst="rect">
            <a:avLst/>
          </a:prstGeom>
          <a:noFill/>
          <a:ln/>
        </p:spPr>
        <p:txBody>
          <a:bodyPr wrap="square" lIns="0" tIns="0" rIns="0" bIns="0" rtlCol="0" anchor="ctr"/>
          <a:lstStyle/>
          <a:p>
            <a:pPr indent="0" marL="0">
              <a:buNone/>
            </a:pPr>
            <a:r>
              <a:rPr lang="en-US" sz="950" b="1" spc="200" kern="0" dirty="0">
                <a:solidFill>
                  <a:srgbClr val="D4A843"/>
                </a:solidFill>
                <a:latin typeface="Calibri" pitchFamily="34" charset="0"/>
                <a:ea typeface="Calibri" pitchFamily="34" charset="-122"/>
                <a:cs typeface="Calibri" pitchFamily="34" charset="-120"/>
              </a:rPr>
              <a:t>OPEN RATE</a:t>
            </a:r>
            <a:endParaRPr lang="en-US" sz="950" dirty="0"/>
          </a:p>
        </p:txBody>
      </p:sp>
      <p:sp>
        <p:nvSpPr>
          <p:cNvPr id="13" name="Text 11"/>
          <p:cNvSpPr/>
          <p:nvPr/>
        </p:nvSpPr>
        <p:spPr>
          <a:xfrm>
            <a:off x="4617720" y="3621024"/>
            <a:ext cx="2953512" cy="694944"/>
          </a:xfrm>
          <a:prstGeom prst="rect">
            <a:avLst/>
          </a:prstGeom>
          <a:noFill/>
          <a:ln/>
        </p:spPr>
        <p:txBody>
          <a:bodyPr wrap="square" lIns="0" tIns="0" rIns="0" bIns="0" rtlCol="0" anchor="ctr"/>
          <a:lstStyle/>
          <a:p>
            <a:pPr indent="0" marL="0">
              <a:buNone/>
            </a:pPr>
            <a:r>
              <a:rPr lang="en-US" sz="4400" b="1" dirty="0">
                <a:solidFill>
                  <a:srgbClr val="F2EDE4"/>
                </a:solidFill>
                <a:latin typeface="Century Schoolbook" pitchFamily="34" charset="0"/>
                <a:ea typeface="Century Schoolbook" pitchFamily="34" charset="-122"/>
                <a:cs typeface="Century Schoolbook" pitchFamily="34" charset="-120"/>
              </a:rPr>
              <a:t>50%+</a:t>
            </a:r>
            <a:endParaRPr lang="en-US" sz="4400" dirty="0"/>
          </a:p>
        </p:txBody>
      </p:sp>
      <p:sp>
        <p:nvSpPr>
          <p:cNvPr id="14" name="Text 12"/>
          <p:cNvSpPr/>
          <p:nvPr/>
        </p:nvSpPr>
        <p:spPr>
          <a:xfrm>
            <a:off x="4617720" y="4334256"/>
            <a:ext cx="2953512" cy="548640"/>
          </a:xfrm>
          <a:prstGeom prst="rect">
            <a:avLst/>
          </a:prstGeom>
          <a:noFill/>
          <a:ln/>
        </p:spPr>
        <p:txBody>
          <a:bodyPr wrap="square" lIns="0" tIns="0" rIns="0" bIns="0" rtlCol="0" anchor="ctr"/>
          <a:lstStyle/>
          <a:p>
            <a:pPr indent="0" marL="0">
              <a:lnSpc>
                <a:spcPts val="1450"/>
              </a:lnSpc>
              <a:buNone/>
            </a:pPr>
            <a:r>
              <a:rPr lang="en-US" sz="1050" dirty="0">
                <a:solidFill>
                  <a:srgbClr val="9AA9B8"/>
                </a:solidFill>
                <a:latin typeface="Calibri" pitchFamily="34" charset="0"/>
                <a:ea typeface="Calibri" pitchFamily="34" charset="-122"/>
                <a:cs typeface="Calibri" pitchFamily="34" charset="-120"/>
              </a:rPr>
              <a:t>~30,000 opens per issue. Travel lists this size typically run 28–38%.</a:t>
            </a:r>
            <a:endParaRPr lang="en-US" sz="1050" dirty="0"/>
          </a:p>
        </p:txBody>
      </p:sp>
      <p:sp>
        <p:nvSpPr>
          <p:cNvPr id="15" name="Shape 13"/>
          <p:cNvSpPr/>
          <p:nvPr/>
        </p:nvSpPr>
        <p:spPr>
          <a:xfrm>
            <a:off x="8119872" y="3182112"/>
            <a:ext cx="3502152" cy="1792224"/>
          </a:xfrm>
          <a:prstGeom prst="roundRect">
            <a:avLst>
              <a:gd name="adj" fmla="val 2041"/>
            </a:avLst>
          </a:prstGeom>
          <a:solidFill>
            <a:srgbClr val="16202C"/>
          </a:solidFill>
          <a:ln/>
        </p:spPr>
      </p:sp>
      <p:sp>
        <p:nvSpPr>
          <p:cNvPr id="16" name="Text 14"/>
          <p:cNvSpPr/>
          <p:nvPr/>
        </p:nvSpPr>
        <p:spPr>
          <a:xfrm>
            <a:off x="8394192" y="3383280"/>
            <a:ext cx="2953512" cy="219456"/>
          </a:xfrm>
          <a:prstGeom prst="rect">
            <a:avLst/>
          </a:prstGeom>
          <a:noFill/>
          <a:ln/>
        </p:spPr>
        <p:txBody>
          <a:bodyPr wrap="square" lIns="0" tIns="0" rIns="0" bIns="0" rtlCol="0" anchor="ctr"/>
          <a:lstStyle/>
          <a:p>
            <a:pPr indent="0" marL="0">
              <a:buNone/>
            </a:pPr>
            <a:r>
              <a:rPr lang="en-US" sz="950" b="1" spc="200" kern="0" dirty="0">
                <a:solidFill>
                  <a:srgbClr val="D4A843"/>
                </a:solidFill>
                <a:latin typeface="Calibri" pitchFamily="34" charset="0"/>
                <a:ea typeface="Calibri" pitchFamily="34" charset="-122"/>
                <a:cs typeface="Calibri" pitchFamily="34" charset="-120"/>
              </a:rPr>
              <a:t>CLICK RATE</a:t>
            </a:r>
            <a:endParaRPr lang="en-US" sz="950" dirty="0"/>
          </a:p>
        </p:txBody>
      </p:sp>
      <p:sp>
        <p:nvSpPr>
          <p:cNvPr id="17" name="Text 15"/>
          <p:cNvSpPr/>
          <p:nvPr/>
        </p:nvSpPr>
        <p:spPr>
          <a:xfrm>
            <a:off x="8394192" y="3621024"/>
            <a:ext cx="2953512" cy="694944"/>
          </a:xfrm>
          <a:prstGeom prst="rect">
            <a:avLst/>
          </a:prstGeom>
          <a:noFill/>
          <a:ln/>
        </p:spPr>
        <p:txBody>
          <a:bodyPr wrap="square" lIns="0" tIns="0" rIns="0" bIns="0" rtlCol="0" anchor="ctr"/>
          <a:lstStyle/>
          <a:p>
            <a:pPr indent="0" marL="0">
              <a:buNone/>
            </a:pPr>
            <a:r>
              <a:rPr lang="en-US" sz="4400" b="1" dirty="0">
                <a:solidFill>
                  <a:srgbClr val="F2EDE4"/>
                </a:solidFill>
                <a:latin typeface="Century Schoolbook" pitchFamily="34" charset="0"/>
                <a:ea typeface="Century Schoolbook" pitchFamily="34" charset="-122"/>
                <a:cs typeface="Century Schoolbook" pitchFamily="34" charset="-120"/>
              </a:rPr>
              <a:t>10%</a:t>
            </a:r>
            <a:endParaRPr lang="en-US" sz="4400" dirty="0"/>
          </a:p>
        </p:txBody>
      </p:sp>
      <p:sp>
        <p:nvSpPr>
          <p:cNvPr id="18" name="Text 16"/>
          <p:cNvSpPr/>
          <p:nvPr/>
        </p:nvSpPr>
        <p:spPr>
          <a:xfrm>
            <a:off x="8394192" y="4334256"/>
            <a:ext cx="2953512" cy="548640"/>
          </a:xfrm>
          <a:prstGeom prst="rect">
            <a:avLst/>
          </a:prstGeom>
          <a:noFill/>
          <a:ln/>
        </p:spPr>
        <p:txBody>
          <a:bodyPr wrap="square" lIns="0" tIns="0" rIns="0" bIns="0" rtlCol="0" anchor="ctr"/>
          <a:lstStyle/>
          <a:p>
            <a:pPr indent="0" marL="0">
              <a:lnSpc>
                <a:spcPts val="1450"/>
              </a:lnSpc>
              <a:buNone/>
            </a:pPr>
            <a:r>
              <a:rPr lang="en-US" sz="1050" dirty="0">
                <a:solidFill>
                  <a:srgbClr val="9AA9B8"/>
                </a:solidFill>
                <a:latin typeface="Calibri" pitchFamily="34" charset="0"/>
                <a:ea typeface="Calibri" pitchFamily="34" charset="-122"/>
                <a:cs typeface="Calibri" pitchFamily="34" charset="-120"/>
              </a:rPr>
              <a:t>~6,000 clicks per issue on the full list — a click-to-open near 20%.</a:t>
            </a:r>
            <a:endParaRPr lang="en-US" sz="1050" dirty="0"/>
          </a:p>
        </p:txBody>
      </p:sp>
      <p:sp>
        <p:nvSpPr>
          <p:cNvPr id="19" name="Shape 17"/>
          <p:cNvSpPr/>
          <p:nvPr/>
        </p:nvSpPr>
        <p:spPr>
          <a:xfrm>
            <a:off x="566928" y="5120640"/>
            <a:ext cx="11055096" cy="658368"/>
          </a:xfrm>
          <a:prstGeom prst="roundRect">
            <a:avLst>
              <a:gd name="adj" fmla="val 4167"/>
            </a:avLst>
          </a:prstGeom>
          <a:solidFill>
            <a:srgbClr val="16202C"/>
          </a:solidFill>
          <a:ln w="9525">
            <a:solidFill>
              <a:srgbClr val="E08048">
                <a:alpha val="45000"/>
              </a:srgbClr>
            </a:solidFill>
            <a:prstDash val="solid"/>
          </a:ln>
        </p:spPr>
      </p:sp>
      <p:sp>
        <p:nvSpPr>
          <p:cNvPr id="20" name="Text 18"/>
          <p:cNvSpPr/>
          <p:nvPr/>
        </p:nvSpPr>
        <p:spPr>
          <a:xfrm>
            <a:off x="841248" y="5120640"/>
            <a:ext cx="10515600" cy="658368"/>
          </a:xfrm>
          <a:prstGeom prst="rect">
            <a:avLst/>
          </a:prstGeom>
          <a:noFill/>
          <a:ln/>
        </p:spPr>
        <p:txBody>
          <a:bodyPr wrap="square" lIns="0" tIns="0" rIns="0" bIns="0" rtlCol="0" anchor="ctr"/>
          <a:lstStyle/>
          <a:p>
            <a:pPr indent="0" marL="0">
              <a:buNone/>
            </a:pPr>
            <a:r>
              <a:rPr lang="en-US" sz="1300" dirty="0">
                <a:solidFill>
                  <a:srgbClr val="9AA9B8"/>
                </a:solidFill>
                <a:latin typeface="Calibri" pitchFamily="34" charset="0"/>
                <a:ea typeface="Calibri" pitchFamily="34" charset="-122"/>
                <a:cs typeface="Calibri" pitchFamily="34" charset="-120"/>
              </a:rPr>
              <a:t>What a $2,500 primary sponsorship works out to:</a:t>
            </a:r>
            <a:pPr indent="0" marL="0">
              <a:buNone/>
            </a:pPr>
            <a:r>
              <a:rPr lang="en-US" sz="1300" b="1" dirty="0">
                <a:solidFill>
                  <a:srgbClr val="F2EDE4"/>
                </a:solidFill>
                <a:latin typeface="Calibri" pitchFamily="34" charset="0"/>
                <a:ea typeface="Calibri" pitchFamily="34" charset="-122"/>
                <a:cs typeface="Calibri" pitchFamily="34" charset="-120"/>
              </a:rPr>
              <a:t>   $42 CPM delivered</a:t>
            </a:r>
            <a:pPr indent="0" marL="0">
              <a:buNone/>
            </a:pPr>
            <a:r>
              <a:rPr lang="en-US" sz="1300" dirty="0">
                <a:solidFill>
                  <a:srgbClr val="D4A843"/>
                </a:solidFill>
                <a:latin typeface="Calibri" pitchFamily="34" charset="0"/>
                <a:ea typeface="Calibri" pitchFamily="34" charset="-122"/>
                <a:cs typeface="Calibri" pitchFamily="34" charset="-120"/>
              </a:rPr>
              <a:t>  ·  </a:t>
            </a:r>
            <a:pPr indent="0" marL="0">
              <a:buNone/>
            </a:pPr>
            <a:r>
              <a:rPr lang="en-US" sz="1300" b="1" dirty="0">
                <a:solidFill>
                  <a:srgbClr val="F2EDE4"/>
                </a:solidFill>
                <a:latin typeface="Calibri" pitchFamily="34" charset="0"/>
                <a:ea typeface="Calibri" pitchFamily="34" charset="-122"/>
                <a:cs typeface="Calibri" pitchFamily="34" charset="-120"/>
              </a:rPr>
              <a:t>$83 CPM on opens</a:t>
            </a:r>
            <a:pPr indent="0" marL="0">
              <a:buNone/>
            </a:pPr>
            <a:r>
              <a:rPr lang="en-US" sz="1300" dirty="0">
                <a:solidFill>
                  <a:srgbClr val="D4A843"/>
                </a:solidFill>
                <a:latin typeface="Calibri" pitchFamily="34" charset="0"/>
                <a:ea typeface="Calibri" pitchFamily="34" charset="-122"/>
                <a:cs typeface="Calibri" pitchFamily="34" charset="-120"/>
              </a:rPr>
              <a:t>  ·  </a:t>
            </a:r>
            <a:pPr indent="0" marL="0">
              <a:buNone/>
            </a:pPr>
            <a:r>
              <a:rPr lang="en-US" sz="1300" b="1" dirty="0">
                <a:solidFill>
                  <a:srgbClr val="E08048"/>
                </a:solidFill>
                <a:latin typeface="Calibri" pitchFamily="34" charset="0"/>
                <a:ea typeface="Calibri" pitchFamily="34" charset="-122"/>
                <a:cs typeface="Calibri" pitchFamily="34" charset="-120"/>
              </a:rPr>
              <a:t>$0.42 per click</a:t>
            </a:r>
            <a:endParaRPr lang="en-US" sz="1300" dirty="0"/>
          </a:p>
        </p:txBody>
      </p:sp>
      <p:sp>
        <p:nvSpPr>
          <p:cNvPr id="21" name="Text 19"/>
          <p:cNvSpPr/>
          <p:nvPr/>
        </p:nvSpPr>
        <p:spPr>
          <a:xfrm>
            <a:off x="566928" y="5961888"/>
            <a:ext cx="10881360" cy="274320"/>
          </a:xfrm>
          <a:prstGeom prst="rect">
            <a:avLst/>
          </a:prstGeom>
          <a:noFill/>
          <a:ln/>
        </p:spPr>
        <p:txBody>
          <a:bodyPr wrap="square" lIns="0" tIns="0" rIns="0" bIns="0" rtlCol="0" anchor="ctr"/>
          <a:lstStyle/>
          <a:p>
            <a:pPr indent="0" marL="0">
              <a:buNone/>
            </a:pPr>
            <a:r>
              <a:rPr lang="en-US" sz="1150" i="1" dirty="0">
                <a:solidFill>
                  <a:srgbClr val="9AA9B8"/>
                </a:solidFill>
                <a:latin typeface="Calibri" pitchFamily="34" charset="0"/>
                <a:ea typeface="Calibri" pitchFamily="34" charset="-122"/>
                <a:cs typeface="Calibri" pitchFamily="34" charset="-120"/>
              </a:rPr>
              <a:t>One primary sponsor and one native dispatch per issue — never more.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SEGMENTATION</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You are not buying 60,000 people. You are buying the right 9,000.</a:t>
            </a:r>
            <a:endParaRPr lang="en-US" sz="3300" dirty="0"/>
          </a:p>
        </p:txBody>
      </p:sp>
      <p:sp>
        <p:nvSpPr>
          <p:cNvPr id="6" name="Text 4"/>
          <p:cNvSpPr/>
          <p:nvPr/>
        </p:nvSpPr>
        <p:spPr>
          <a:xfrm>
            <a:off x="566928" y="2322576"/>
            <a:ext cx="10881360" cy="786384"/>
          </a:xfrm>
          <a:prstGeom prst="rect">
            <a:avLst/>
          </a:prstGeom>
          <a:noFill/>
          <a:ln/>
        </p:spPr>
        <p:txBody>
          <a:bodyPr wrap="square" lIns="0" tIns="0" rIns="0" bIns="0" rtlCol="0" anchor="t"/>
          <a:lstStyle/>
          <a:p>
            <a:pPr indent="0" marL="0">
              <a:lnSpc>
                <a:spcPts val="2100"/>
              </a:lnSpc>
              <a:buNone/>
            </a:pPr>
            <a:r>
              <a:rPr lang="en-US" sz="1450" dirty="0">
                <a:solidFill>
                  <a:srgbClr val="3D3530"/>
                </a:solidFill>
                <a:latin typeface="Calibri" pitchFamily="34" charset="0"/>
                <a:ea typeface="Calibri" pitchFamily="34" charset="-122"/>
                <a:cs typeface="Calibri" pitchFamily="34" charset="-120"/>
              </a:rPr>
              <a:t>Every subscriber declares interests and regions at signup, and every click refines them. Segments are addressable individually, combinable, and available for standalone sends from 5,000 names up.</a:t>
            </a:r>
            <a:endParaRPr lang="en-US" sz="1450" dirty="0"/>
          </a:p>
        </p:txBody>
      </p:sp>
      <p:graphicFrame>
        <p:nvGraphicFramePr>
          <p:cNvPr id="7" name="Chart 0" descr=""/>
          <p:cNvGraphicFramePr/>
          <p:nvPr/>
        </p:nvGraphicFramePr>
        <p:xfrm>
          <a:off x="566928" y="3200400"/>
          <a:ext cx="6675120" cy="316382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71232" y="3200400"/>
            <a:ext cx="4050792" cy="3163824"/>
          </a:xfrm>
          <a:prstGeom prst="roundRect">
            <a:avLst>
              <a:gd name="adj" fmla="val 867"/>
            </a:avLst>
          </a:prstGeom>
          <a:solidFill>
            <a:srgbClr val="F5F0E8"/>
          </a:solidFill>
          <a:ln/>
        </p:spPr>
      </p:sp>
      <p:sp>
        <p:nvSpPr>
          <p:cNvPr id="9" name="Text 6"/>
          <p:cNvSpPr/>
          <p:nvPr/>
        </p:nvSpPr>
        <p:spPr>
          <a:xfrm>
            <a:off x="7845552" y="3383280"/>
            <a:ext cx="3566160" cy="237744"/>
          </a:xfrm>
          <a:prstGeom prst="rect">
            <a:avLst/>
          </a:prstGeom>
          <a:noFill/>
          <a:ln/>
        </p:spPr>
        <p:txBody>
          <a:bodyPr wrap="square" lIns="0" tIns="0" rIns="0" bIns="0" rtlCol="0" anchor="ctr"/>
          <a:lstStyle/>
          <a:p>
            <a:pPr indent="0" marL="0">
              <a:buNone/>
            </a:pPr>
            <a:r>
              <a:rPr lang="en-US" sz="950" b="1" spc="200" kern="0" dirty="0">
                <a:solidFill>
                  <a:srgbClr val="8A6620"/>
                </a:solidFill>
                <a:latin typeface="Calibri" pitchFamily="34" charset="0"/>
                <a:ea typeface="Calibri" pitchFamily="34" charset="-122"/>
                <a:cs typeface="Calibri" pitchFamily="34" charset="-120"/>
              </a:rPr>
              <a:t>SUBSCRIBERS PER SEGMENT</a:t>
            </a:r>
            <a:endParaRPr lang="en-US" sz="950" dirty="0"/>
          </a:p>
        </p:txBody>
      </p:sp>
      <p:sp>
        <p:nvSpPr>
          <p:cNvPr id="10" name="Text 7"/>
          <p:cNvSpPr/>
          <p:nvPr/>
        </p:nvSpPr>
        <p:spPr>
          <a:xfrm>
            <a:off x="7845552" y="3694176"/>
            <a:ext cx="2468880" cy="256032"/>
          </a:xfrm>
          <a:prstGeom prst="rect">
            <a:avLst/>
          </a:prstGeom>
          <a:noFill/>
          <a:ln/>
        </p:spPr>
        <p:txBody>
          <a:bodyPr wrap="square" lIns="0" tIns="0" rIns="0" bIns="0" rtlCol="0" anchor="ctr"/>
          <a:lstStyle/>
          <a:p>
            <a:pPr indent="0" marL="0">
              <a:buNone/>
            </a:pPr>
            <a:r>
              <a:rPr lang="en-US" sz="1150" b="1" dirty="0">
                <a:solidFill>
                  <a:srgbClr val="1A1714"/>
                </a:solidFill>
                <a:latin typeface="Calibri" pitchFamily="34" charset="0"/>
                <a:ea typeface="Calibri" pitchFamily="34" charset="-122"/>
                <a:cs typeface="Calibri" pitchFamily="34" charset="-120"/>
              </a:rPr>
              <a:t>Points &amp; miles</a:t>
            </a:r>
            <a:endParaRPr lang="en-US" sz="1150" dirty="0"/>
          </a:p>
        </p:txBody>
      </p:sp>
      <p:sp>
        <p:nvSpPr>
          <p:cNvPr id="11" name="Text 8"/>
          <p:cNvSpPr/>
          <p:nvPr/>
        </p:nvSpPr>
        <p:spPr>
          <a:xfrm>
            <a:off x="10332720" y="3694176"/>
            <a:ext cx="1060704" cy="256032"/>
          </a:xfrm>
          <a:prstGeom prst="rect">
            <a:avLst/>
          </a:prstGeom>
          <a:noFill/>
          <a:ln/>
        </p:spPr>
        <p:txBody>
          <a:bodyPr wrap="square" lIns="0" tIns="0" rIns="0" bIns="0" rtlCol="0" anchor="ctr"/>
          <a:lstStyle/>
          <a:p>
            <a:pPr algn="r" indent="0" marL="0">
              <a:buNone/>
            </a:pPr>
            <a:r>
              <a:rPr lang="en-US" sz="1150" b="1" dirty="0">
                <a:solidFill>
                  <a:srgbClr val="A0471C"/>
                </a:solidFill>
                <a:latin typeface="Calibri" pitchFamily="34" charset="0"/>
                <a:ea typeface="Calibri" pitchFamily="34" charset="-122"/>
                <a:cs typeface="Calibri" pitchFamily="34" charset="-120"/>
              </a:rPr>
              <a:t>13,200</a:t>
            </a:r>
            <a:endParaRPr lang="en-US" sz="1150" dirty="0"/>
          </a:p>
        </p:txBody>
      </p:sp>
      <p:sp>
        <p:nvSpPr>
          <p:cNvPr id="12" name="Text 9"/>
          <p:cNvSpPr/>
          <p:nvPr/>
        </p:nvSpPr>
        <p:spPr>
          <a:xfrm>
            <a:off x="7845552" y="4064508"/>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Adventure &amp; outdoors</a:t>
            </a:r>
            <a:endParaRPr lang="en-US" sz="1150" dirty="0"/>
          </a:p>
        </p:txBody>
      </p:sp>
      <p:sp>
        <p:nvSpPr>
          <p:cNvPr id="13" name="Text 10"/>
          <p:cNvSpPr/>
          <p:nvPr/>
        </p:nvSpPr>
        <p:spPr>
          <a:xfrm>
            <a:off x="10332720" y="4064508"/>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10,800</a:t>
            </a:r>
            <a:endParaRPr lang="en-US" sz="1150" dirty="0"/>
          </a:p>
        </p:txBody>
      </p:sp>
      <p:sp>
        <p:nvSpPr>
          <p:cNvPr id="14" name="Text 11"/>
          <p:cNvSpPr/>
          <p:nvPr/>
        </p:nvSpPr>
        <p:spPr>
          <a:xfrm>
            <a:off x="7845552" y="4434840"/>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Beach &amp; islands</a:t>
            </a:r>
            <a:endParaRPr lang="en-US" sz="1150" dirty="0"/>
          </a:p>
        </p:txBody>
      </p:sp>
      <p:sp>
        <p:nvSpPr>
          <p:cNvPr id="15" name="Text 12"/>
          <p:cNvSpPr/>
          <p:nvPr/>
        </p:nvSpPr>
        <p:spPr>
          <a:xfrm>
            <a:off x="10332720" y="4434840"/>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9,600</a:t>
            </a:r>
            <a:endParaRPr lang="en-US" sz="1150" dirty="0"/>
          </a:p>
        </p:txBody>
      </p:sp>
      <p:sp>
        <p:nvSpPr>
          <p:cNvPr id="16" name="Text 13"/>
          <p:cNvSpPr/>
          <p:nvPr/>
        </p:nvSpPr>
        <p:spPr>
          <a:xfrm>
            <a:off x="7845552" y="4805172"/>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Food &amp; wine</a:t>
            </a:r>
            <a:endParaRPr lang="en-US" sz="1150" dirty="0"/>
          </a:p>
        </p:txBody>
      </p:sp>
      <p:sp>
        <p:nvSpPr>
          <p:cNvPr id="17" name="Text 14"/>
          <p:cNvSpPr/>
          <p:nvPr/>
        </p:nvSpPr>
        <p:spPr>
          <a:xfrm>
            <a:off x="10332720" y="4805172"/>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7,800</a:t>
            </a:r>
            <a:endParaRPr lang="en-US" sz="1150" dirty="0"/>
          </a:p>
        </p:txBody>
      </p:sp>
      <p:sp>
        <p:nvSpPr>
          <p:cNvPr id="18" name="Text 15"/>
          <p:cNvSpPr/>
          <p:nvPr/>
        </p:nvSpPr>
        <p:spPr>
          <a:xfrm>
            <a:off x="7845552" y="5175504"/>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Culture &amp; city breaks</a:t>
            </a:r>
            <a:endParaRPr lang="en-US" sz="1150" dirty="0"/>
          </a:p>
        </p:txBody>
      </p:sp>
      <p:sp>
        <p:nvSpPr>
          <p:cNvPr id="19" name="Text 16"/>
          <p:cNvSpPr/>
          <p:nvPr/>
        </p:nvSpPr>
        <p:spPr>
          <a:xfrm>
            <a:off x="10332720" y="5175504"/>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7,200</a:t>
            </a:r>
            <a:endParaRPr lang="en-US" sz="1150" dirty="0"/>
          </a:p>
        </p:txBody>
      </p:sp>
      <p:sp>
        <p:nvSpPr>
          <p:cNvPr id="20" name="Text 17"/>
          <p:cNvSpPr/>
          <p:nvPr/>
        </p:nvSpPr>
        <p:spPr>
          <a:xfrm>
            <a:off x="7845552" y="5545836"/>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Luxury &amp; slow travel</a:t>
            </a:r>
            <a:endParaRPr lang="en-US" sz="1150" dirty="0"/>
          </a:p>
        </p:txBody>
      </p:sp>
      <p:sp>
        <p:nvSpPr>
          <p:cNvPr id="21" name="Text 18"/>
          <p:cNvSpPr/>
          <p:nvPr/>
        </p:nvSpPr>
        <p:spPr>
          <a:xfrm>
            <a:off x="10332720" y="5545836"/>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6,000</a:t>
            </a:r>
            <a:endParaRPr lang="en-US" sz="1150" dirty="0"/>
          </a:p>
        </p:txBody>
      </p:sp>
      <p:sp>
        <p:nvSpPr>
          <p:cNvPr id="22" name="Text 19"/>
          <p:cNvSpPr/>
          <p:nvPr/>
        </p:nvSpPr>
        <p:spPr>
          <a:xfrm>
            <a:off x="7845552" y="5916168"/>
            <a:ext cx="2468880" cy="256032"/>
          </a:xfrm>
          <a:prstGeom prst="rect">
            <a:avLst/>
          </a:prstGeom>
          <a:noFill/>
          <a:ln/>
        </p:spPr>
        <p:txBody>
          <a:bodyPr wrap="square" lIns="0" tIns="0" rIns="0" bIns="0" rtlCol="0" anchor="ctr"/>
          <a:lstStyle/>
          <a:p>
            <a:pPr indent="0" marL="0">
              <a:buNone/>
            </a:pPr>
            <a:r>
              <a:rPr lang="en-US" sz="1150" dirty="0">
                <a:solidFill>
                  <a:srgbClr val="3D3530"/>
                </a:solidFill>
                <a:latin typeface="Calibri" pitchFamily="34" charset="0"/>
                <a:ea typeface="Calibri" pitchFamily="34" charset="-122"/>
                <a:cs typeface="Calibri" pitchFamily="34" charset="-120"/>
              </a:rPr>
              <a:t>Budget &amp; backpacking</a:t>
            </a:r>
            <a:endParaRPr lang="en-US" sz="1150" dirty="0"/>
          </a:p>
        </p:txBody>
      </p:sp>
      <p:sp>
        <p:nvSpPr>
          <p:cNvPr id="23" name="Text 20"/>
          <p:cNvSpPr/>
          <p:nvPr/>
        </p:nvSpPr>
        <p:spPr>
          <a:xfrm>
            <a:off x="10332720" y="5916168"/>
            <a:ext cx="1060704" cy="256032"/>
          </a:xfrm>
          <a:prstGeom prst="rect">
            <a:avLst/>
          </a:prstGeom>
          <a:noFill/>
          <a:ln/>
        </p:spPr>
        <p:txBody>
          <a:bodyPr wrap="square" lIns="0" tIns="0" rIns="0" bIns="0" rtlCol="0" anchor="ctr"/>
          <a:lstStyle/>
          <a:p>
            <a:pPr algn="r" indent="0" marL="0">
              <a:buNone/>
            </a:pPr>
            <a:r>
              <a:rPr lang="en-US" sz="1150" dirty="0">
                <a:solidFill>
                  <a:srgbClr val="1A1714"/>
                </a:solidFill>
                <a:latin typeface="Calibri" pitchFamily="34" charset="0"/>
                <a:ea typeface="Calibri" pitchFamily="34" charset="-122"/>
                <a:cs typeface="Calibri" pitchFamily="34" charset="-120"/>
              </a:rPr>
              <a:t>5,400</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SEGMENTATION</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Four more ways to cut the list — layered, or bought on their own.</a:t>
            </a:r>
            <a:endParaRPr lang="en-US" sz="3300" dirty="0"/>
          </a:p>
        </p:txBody>
      </p:sp>
      <p:sp>
        <p:nvSpPr>
          <p:cNvPr id="6" name="Text 4"/>
          <p:cNvSpPr/>
          <p:nvPr/>
        </p:nvSpPr>
        <p:spPr>
          <a:xfrm>
            <a:off x="566928" y="2523744"/>
            <a:ext cx="10881360" cy="237744"/>
          </a:xfrm>
          <a:prstGeom prst="rect">
            <a:avLst/>
          </a:prstGeom>
          <a:noFill/>
          <a:ln/>
        </p:spPr>
        <p:txBody>
          <a:bodyPr wrap="square" lIns="0" tIns="0" rIns="0" bIns="0" rtlCol="0" anchor="ctr"/>
          <a:lstStyle/>
          <a:p>
            <a:pPr indent="0" marL="0">
              <a:buNone/>
            </a:pPr>
            <a:r>
              <a:rPr lang="en-US" sz="950" b="1" spc="200" kern="0" dirty="0">
                <a:solidFill>
                  <a:srgbClr val="8A6620"/>
                </a:solidFill>
                <a:latin typeface="Calibri" pitchFamily="34" charset="0"/>
                <a:ea typeface="Calibri" pitchFamily="34" charset="-122"/>
                <a:cs typeface="Calibri" pitchFamily="34" charset="-120"/>
              </a:rPr>
              <a:t>BY TRIP STAGE — BEHAVIOURAL</a:t>
            </a:r>
            <a:endParaRPr lang="en-US" sz="950" dirty="0"/>
          </a:p>
        </p:txBody>
      </p:sp>
      <p:sp>
        <p:nvSpPr>
          <p:cNvPr id="7" name="Shape 5"/>
          <p:cNvSpPr/>
          <p:nvPr/>
        </p:nvSpPr>
        <p:spPr>
          <a:xfrm>
            <a:off x="566928" y="2816352"/>
            <a:ext cx="2558034" cy="1207008"/>
          </a:xfrm>
          <a:prstGeom prst="roundRect">
            <a:avLst>
              <a:gd name="adj" fmla="val 2273"/>
            </a:avLst>
          </a:prstGeom>
          <a:solidFill>
            <a:srgbClr val="FAF7F2"/>
          </a:solidFill>
          <a:ln/>
        </p:spPr>
      </p:sp>
      <p:sp>
        <p:nvSpPr>
          <p:cNvPr id="8" name="Text 6"/>
          <p:cNvSpPr/>
          <p:nvPr/>
        </p:nvSpPr>
        <p:spPr>
          <a:xfrm>
            <a:off x="786384" y="2944368"/>
            <a:ext cx="2119122" cy="493776"/>
          </a:xfrm>
          <a:prstGeom prst="rect">
            <a:avLst/>
          </a:prstGeom>
          <a:noFill/>
          <a:ln/>
        </p:spPr>
        <p:txBody>
          <a:bodyPr wrap="square" lIns="0" tIns="0" rIns="0" bIns="0" rtlCol="0" anchor="ctr"/>
          <a:lstStyle/>
          <a:p>
            <a:pPr indent="0" marL="0">
              <a:buNone/>
            </a:pPr>
            <a:r>
              <a:rPr lang="en-US" sz="2800" b="1" dirty="0">
                <a:solidFill>
                  <a:srgbClr val="1A1714"/>
                </a:solidFill>
                <a:latin typeface="Century Schoolbook" pitchFamily="34" charset="0"/>
                <a:ea typeface="Century Schoolbook" pitchFamily="34" charset="-122"/>
                <a:cs typeface="Century Schoolbook" pitchFamily="34" charset="-120"/>
              </a:rPr>
              <a:t>45%</a:t>
            </a:r>
            <a:endParaRPr lang="en-US" sz="2800" dirty="0"/>
          </a:p>
        </p:txBody>
      </p:sp>
      <p:sp>
        <p:nvSpPr>
          <p:cNvPr id="9" name="Text 7"/>
          <p:cNvSpPr/>
          <p:nvPr/>
        </p:nvSpPr>
        <p:spPr>
          <a:xfrm>
            <a:off x="786384" y="3438144"/>
            <a:ext cx="2119122" cy="237744"/>
          </a:xfrm>
          <a:prstGeom prst="rect">
            <a:avLst/>
          </a:prstGeom>
          <a:noFill/>
          <a:ln/>
        </p:spPr>
        <p:txBody>
          <a:bodyPr wrap="square" lIns="0" tIns="0" rIns="0" bIns="0" rtlCol="0" anchor="ctr"/>
          <a:lstStyle/>
          <a:p>
            <a:pPr indent="0" marL="0">
              <a:buNone/>
            </a:pPr>
            <a:r>
              <a:rPr lang="en-US" sz="1250" b="1" dirty="0">
                <a:solidFill>
                  <a:srgbClr val="1A1714"/>
                </a:solidFill>
                <a:latin typeface="Calibri" pitchFamily="34" charset="0"/>
                <a:ea typeface="Calibri" pitchFamily="34" charset="-122"/>
                <a:cs typeface="Calibri" pitchFamily="34" charset="-120"/>
              </a:rPr>
              <a:t>Dreaming</a:t>
            </a:r>
            <a:endParaRPr lang="en-US" sz="1250" dirty="0"/>
          </a:p>
        </p:txBody>
      </p:sp>
      <p:sp>
        <p:nvSpPr>
          <p:cNvPr id="10" name="Text 8"/>
          <p:cNvSpPr/>
          <p:nvPr/>
        </p:nvSpPr>
        <p:spPr>
          <a:xfrm>
            <a:off x="786384" y="3675888"/>
            <a:ext cx="2119122" cy="237744"/>
          </a:xfrm>
          <a:prstGeom prst="rect">
            <a:avLst/>
          </a:prstGeom>
          <a:noFill/>
          <a:ln/>
        </p:spPr>
        <p:txBody>
          <a:bodyPr wrap="square" lIns="0" tIns="0" rIns="0" bIns="0" rtlCol="0" anchor="ctr"/>
          <a:lstStyle/>
          <a:p>
            <a:pPr indent="0" marL="0">
              <a:buNone/>
            </a:pPr>
            <a:r>
              <a:rPr lang="en-US" sz="1050" dirty="0">
                <a:solidFill>
                  <a:srgbClr val="6B5F58"/>
                </a:solidFill>
                <a:latin typeface="Calibri" pitchFamily="34" charset="0"/>
                <a:ea typeface="Calibri" pitchFamily="34" charset="-122"/>
                <a:cs typeface="Calibri" pitchFamily="34" charset="-120"/>
              </a:rPr>
              <a:t>no dates yet</a:t>
            </a:r>
            <a:endParaRPr lang="en-US" sz="1050" dirty="0"/>
          </a:p>
        </p:txBody>
      </p:sp>
      <p:sp>
        <p:nvSpPr>
          <p:cNvPr id="11" name="Shape 9"/>
          <p:cNvSpPr/>
          <p:nvPr/>
        </p:nvSpPr>
        <p:spPr>
          <a:xfrm>
            <a:off x="3399282" y="2816352"/>
            <a:ext cx="2558034" cy="1207008"/>
          </a:xfrm>
          <a:prstGeom prst="roundRect">
            <a:avLst>
              <a:gd name="adj" fmla="val 2273"/>
            </a:avLst>
          </a:prstGeom>
          <a:solidFill>
            <a:srgbClr val="1A2634"/>
          </a:solidFill>
          <a:ln/>
        </p:spPr>
      </p:sp>
      <p:sp>
        <p:nvSpPr>
          <p:cNvPr id="12" name="Text 10"/>
          <p:cNvSpPr/>
          <p:nvPr/>
        </p:nvSpPr>
        <p:spPr>
          <a:xfrm>
            <a:off x="3618738" y="2944368"/>
            <a:ext cx="2119122" cy="493776"/>
          </a:xfrm>
          <a:prstGeom prst="rect">
            <a:avLst/>
          </a:prstGeom>
          <a:noFill/>
          <a:ln/>
        </p:spPr>
        <p:txBody>
          <a:bodyPr wrap="square" lIns="0" tIns="0" rIns="0" bIns="0" rtlCol="0" anchor="ctr"/>
          <a:lstStyle/>
          <a:p>
            <a:pPr indent="0" marL="0">
              <a:buNone/>
            </a:pPr>
            <a:r>
              <a:rPr lang="en-US" sz="2800" b="1" dirty="0">
                <a:solidFill>
                  <a:srgbClr val="D4A843"/>
                </a:solidFill>
                <a:latin typeface="Century Schoolbook" pitchFamily="34" charset="0"/>
                <a:ea typeface="Century Schoolbook" pitchFamily="34" charset="-122"/>
                <a:cs typeface="Century Schoolbook" pitchFamily="34" charset="-120"/>
              </a:rPr>
              <a:t>32%</a:t>
            </a:r>
            <a:endParaRPr lang="en-US" sz="2800" dirty="0"/>
          </a:p>
        </p:txBody>
      </p:sp>
      <p:sp>
        <p:nvSpPr>
          <p:cNvPr id="13" name="Text 11"/>
          <p:cNvSpPr/>
          <p:nvPr/>
        </p:nvSpPr>
        <p:spPr>
          <a:xfrm>
            <a:off x="3618738" y="3438144"/>
            <a:ext cx="2119122" cy="237744"/>
          </a:xfrm>
          <a:prstGeom prst="rect">
            <a:avLst/>
          </a:prstGeom>
          <a:noFill/>
          <a:ln/>
        </p:spPr>
        <p:txBody>
          <a:bodyPr wrap="square" lIns="0" tIns="0" rIns="0" bIns="0" rtlCol="0" anchor="ctr"/>
          <a:lstStyle/>
          <a:p>
            <a:pPr indent="0" marL="0">
              <a:buNone/>
            </a:pPr>
            <a:r>
              <a:rPr lang="en-US" sz="1250" b="1" dirty="0">
                <a:solidFill>
                  <a:srgbClr val="F2EDE4"/>
                </a:solidFill>
                <a:latin typeface="Calibri" pitchFamily="34" charset="0"/>
                <a:ea typeface="Calibri" pitchFamily="34" charset="-122"/>
                <a:cs typeface="Calibri" pitchFamily="34" charset="-120"/>
              </a:rPr>
              <a:t>Planning</a:t>
            </a:r>
            <a:endParaRPr lang="en-US" sz="1250" dirty="0"/>
          </a:p>
        </p:txBody>
      </p:sp>
      <p:sp>
        <p:nvSpPr>
          <p:cNvPr id="14" name="Text 12"/>
          <p:cNvSpPr/>
          <p:nvPr/>
        </p:nvSpPr>
        <p:spPr>
          <a:xfrm>
            <a:off x="3618738" y="3675888"/>
            <a:ext cx="2119122" cy="237744"/>
          </a:xfrm>
          <a:prstGeom prst="rect">
            <a:avLst/>
          </a:prstGeom>
          <a:noFill/>
          <a:ln/>
        </p:spPr>
        <p:txBody>
          <a:bodyPr wrap="square" lIns="0" tIns="0" rIns="0" bIns="0" rtlCol="0" anchor="ctr"/>
          <a:lstStyle/>
          <a:p>
            <a:pPr indent="0" marL="0">
              <a:buNone/>
            </a:pPr>
            <a:r>
              <a:rPr lang="en-US" sz="1050" dirty="0">
                <a:solidFill>
                  <a:srgbClr val="9AA9B8"/>
                </a:solidFill>
                <a:latin typeface="Calibri" pitchFamily="34" charset="0"/>
                <a:ea typeface="Calibri" pitchFamily="34" charset="-122"/>
                <a:cs typeface="Calibri" pitchFamily="34" charset="-120"/>
              </a:rPr>
              <a:t>booking in 30–90 days</a:t>
            </a:r>
            <a:endParaRPr lang="en-US" sz="1050" dirty="0"/>
          </a:p>
        </p:txBody>
      </p:sp>
      <p:sp>
        <p:nvSpPr>
          <p:cNvPr id="15" name="Shape 13"/>
          <p:cNvSpPr/>
          <p:nvPr/>
        </p:nvSpPr>
        <p:spPr>
          <a:xfrm>
            <a:off x="6231636" y="2816352"/>
            <a:ext cx="2558034" cy="1207008"/>
          </a:xfrm>
          <a:prstGeom prst="roundRect">
            <a:avLst>
              <a:gd name="adj" fmla="val 2273"/>
            </a:avLst>
          </a:prstGeom>
          <a:solidFill>
            <a:srgbClr val="1A2634"/>
          </a:solidFill>
          <a:ln/>
        </p:spPr>
      </p:sp>
      <p:sp>
        <p:nvSpPr>
          <p:cNvPr id="16" name="Text 14"/>
          <p:cNvSpPr/>
          <p:nvPr/>
        </p:nvSpPr>
        <p:spPr>
          <a:xfrm>
            <a:off x="6451092" y="2944368"/>
            <a:ext cx="2119122" cy="493776"/>
          </a:xfrm>
          <a:prstGeom prst="rect">
            <a:avLst/>
          </a:prstGeom>
          <a:noFill/>
          <a:ln/>
        </p:spPr>
        <p:txBody>
          <a:bodyPr wrap="square" lIns="0" tIns="0" rIns="0" bIns="0" rtlCol="0" anchor="ctr"/>
          <a:lstStyle/>
          <a:p>
            <a:pPr indent="0" marL="0">
              <a:buNone/>
            </a:pPr>
            <a:r>
              <a:rPr lang="en-US" sz="2800" b="1" dirty="0">
                <a:solidFill>
                  <a:srgbClr val="D4A843"/>
                </a:solidFill>
                <a:latin typeface="Century Schoolbook" pitchFamily="34" charset="0"/>
                <a:ea typeface="Century Schoolbook" pitchFamily="34" charset="-122"/>
                <a:cs typeface="Century Schoolbook" pitchFamily="34" charset="-120"/>
              </a:rPr>
              <a:t>15%</a:t>
            </a:r>
            <a:endParaRPr lang="en-US" sz="2800" dirty="0"/>
          </a:p>
        </p:txBody>
      </p:sp>
      <p:sp>
        <p:nvSpPr>
          <p:cNvPr id="17" name="Text 15"/>
          <p:cNvSpPr/>
          <p:nvPr/>
        </p:nvSpPr>
        <p:spPr>
          <a:xfrm>
            <a:off x="6451092" y="3438144"/>
            <a:ext cx="2119122" cy="237744"/>
          </a:xfrm>
          <a:prstGeom prst="rect">
            <a:avLst/>
          </a:prstGeom>
          <a:noFill/>
          <a:ln/>
        </p:spPr>
        <p:txBody>
          <a:bodyPr wrap="square" lIns="0" tIns="0" rIns="0" bIns="0" rtlCol="0" anchor="ctr"/>
          <a:lstStyle/>
          <a:p>
            <a:pPr indent="0" marL="0">
              <a:buNone/>
            </a:pPr>
            <a:r>
              <a:rPr lang="en-US" sz="1250" b="1" dirty="0">
                <a:solidFill>
                  <a:srgbClr val="F2EDE4"/>
                </a:solidFill>
                <a:latin typeface="Calibri" pitchFamily="34" charset="0"/>
                <a:ea typeface="Calibri" pitchFamily="34" charset="-122"/>
                <a:cs typeface="Calibri" pitchFamily="34" charset="-120"/>
              </a:rPr>
              <a:t>Booking</a:t>
            </a:r>
            <a:endParaRPr lang="en-US" sz="1250" dirty="0"/>
          </a:p>
        </p:txBody>
      </p:sp>
      <p:sp>
        <p:nvSpPr>
          <p:cNvPr id="18" name="Text 16"/>
          <p:cNvSpPr/>
          <p:nvPr/>
        </p:nvSpPr>
        <p:spPr>
          <a:xfrm>
            <a:off x="6451092" y="3675888"/>
            <a:ext cx="2119122" cy="237744"/>
          </a:xfrm>
          <a:prstGeom prst="rect">
            <a:avLst/>
          </a:prstGeom>
          <a:noFill/>
          <a:ln/>
        </p:spPr>
        <p:txBody>
          <a:bodyPr wrap="square" lIns="0" tIns="0" rIns="0" bIns="0" rtlCol="0" anchor="ctr"/>
          <a:lstStyle/>
          <a:p>
            <a:pPr indent="0" marL="0">
              <a:buNone/>
            </a:pPr>
            <a:r>
              <a:rPr lang="en-US" sz="1050" dirty="0">
                <a:solidFill>
                  <a:srgbClr val="9AA9B8"/>
                </a:solidFill>
                <a:latin typeface="Calibri" pitchFamily="34" charset="0"/>
                <a:ea typeface="Calibri" pitchFamily="34" charset="-122"/>
                <a:cs typeface="Calibri" pitchFamily="34" charset="-120"/>
              </a:rPr>
              <a:t>in-market now</a:t>
            </a:r>
            <a:endParaRPr lang="en-US" sz="1050" dirty="0"/>
          </a:p>
        </p:txBody>
      </p:sp>
      <p:sp>
        <p:nvSpPr>
          <p:cNvPr id="19" name="Shape 17"/>
          <p:cNvSpPr/>
          <p:nvPr/>
        </p:nvSpPr>
        <p:spPr>
          <a:xfrm>
            <a:off x="9063990" y="2816352"/>
            <a:ext cx="2558034" cy="1207008"/>
          </a:xfrm>
          <a:prstGeom prst="roundRect">
            <a:avLst>
              <a:gd name="adj" fmla="val 2273"/>
            </a:avLst>
          </a:prstGeom>
          <a:solidFill>
            <a:srgbClr val="FAF7F2"/>
          </a:solidFill>
          <a:ln/>
        </p:spPr>
      </p:sp>
      <p:sp>
        <p:nvSpPr>
          <p:cNvPr id="20" name="Text 18"/>
          <p:cNvSpPr/>
          <p:nvPr/>
        </p:nvSpPr>
        <p:spPr>
          <a:xfrm>
            <a:off x="9283446" y="2944368"/>
            <a:ext cx="2119122" cy="493776"/>
          </a:xfrm>
          <a:prstGeom prst="rect">
            <a:avLst/>
          </a:prstGeom>
          <a:noFill/>
          <a:ln/>
        </p:spPr>
        <p:txBody>
          <a:bodyPr wrap="square" lIns="0" tIns="0" rIns="0" bIns="0" rtlCol="0" anchor="ctr"/>
          <a:lstStyle/>
          <a:p>
            <a:pPr indent="0" marL="0">
              <a:buNone/>
            </a:pPr>
            <a:r>
              <a:rPr lang="en-US" sz="2800" b="1" dirty="0">
                <a:solidFill>
                  <a:srgbClr val="1A1714"/>
                </a:solidFill>
                <a:latin typeface="Century Schoolbook" pitchFamily="34" charset="0"/>
                <a:ea typeface="Century Schoolbook" pitchFamily="34" charset="-122"/>
                <a:cs typeface="Century Schoolbook" pitchFamily="34" charset="-120"/>
              </a:rPr>
              <a:t>8%</a:t>
            </a:r>
            <a:endParaRPr lang="en-US" sz="2800" dirty="0"/>
          </a:p>
        </p:txBody>
      </p:sp>
      <p:sp>
        <p:nvSpPr>
          <p:cNvPr id="21" name="Text 19"/>
          <p:cNvSpPr/>
          <p:nvPr/>
        </p:nvSpPr>
        <p:spPr>
          <a:xfrm>
            <a:off x="9283446" y="3438144"/>
            <a:ext cx="2119122" cy="237744"/>
          </a:xfrm>
          <a:prstGeom prst="rect">
            <a:avLst/>
          </a:prstGeom>
          <a:noFill/>
          <a:ln/>
        </p:spPr>
        <p:txBody>
          <a:bodyPr wrap="square" lIns="0" tIns="0" rIns="0" bIns="0" rtlCol="0" anchor="ctr"/>
          <a:lstStyle/>
          <a:p>
            <a:pPr indent="0" marL="0">
              <a:buNone/>
            </a:pPr>
            <a:r>
              <a:rPr lang="en-US" sz="1250" b="1" dirty="0">
                <a:solidFill>
                  <a:srgbClr val="1A1714"/>
                </a:solidFill>
                <a:latin typeface="Calibri" pitchFamily="34" charset="0"/>
                <a:ea typeface="Calibri" pitchFamily="34" charset="-122"/>
                <a:cs typeface="Calibri" pitchFamily="34" charset="-120"/>
              </a:rPr>
              <a:t>Just back</a:t>
            </a:r>
            <a:endParaRPr lang="en-US" sz="1250" dirty="0"/>
          </a:p>
        </p:txBody>
      </p:sp>
      <p:sp>
        <p:nvSpPr>
          <p:cNvPr id="22" name="Text 20"/>
          <p:cNvSpPr/>
          <p:nvPr/>
        </p:nvSpPr>
        <p:spPr>
          <a:xfrm>
            <a:off x="9283446" y="3675888"/>
            <a:ext cx="2119122" cy="237744"/>
          </a:xfrm>
          <a:prstGeom prst="rect">
            <a:avLst/>
          </a:prstGeom>
          <a:noFill/>
          <a:ln/>
        </p:spPr>
        <p:txBody>
          <a:bodyPr wrap="square" lIns="0" tIns="0" rIns="0" bIns="0" rtlCol="0" anchor="ctr"/>
          <a:lstStyle/>
          <a:p>
            <a:pPr indent="0" marL="0">
              <a:buNone/>
            </a:pPr>
            <a:r>
              <a:rPr lang="en-US" sz="1050" dirty="0">
                <a:solidFill>
                  <a:srgbClr val="6B5F58"/>
                </a:solidFill>
                <a:latin typeface="Calibri" pitchFamily="34" charset="0"/>
                <a:ea typeface="Calibri" pitchFamily="34" charset="-122"/>
                <a:cs typeface="Calibri" pitchFamily="34" charset="-120"/>
              </a:rPr>
              <a:t>reviewing, resharing</a:t>
            </a:r>
            <a:endParaRPr lang="en-US" sz="1050" dirty="0"/>
          </a:p>
        </p:txBody>
      </p:sp>
      <p:sp>
        <p:nvSpPr>
          <p:cNvPr id="23" name="Text 21"/>
          <p:cNvSpPr/>
          <p:nvPr/>
        </p:nvSpPr>
        <p:spPr>
          <a:xfrm>
            <a:off x="566928" y="4261104"/>
            <a:ext cx="5120640" cy="237744"/>
          </a:xfrm>
          <a:prstGeom prst="rect">
            <a:avLst/>
          </a:prstGeom>
          <a:noFill/>
          <a:ln/>
        </p:spPr>
        <p:txBody>
          <a:bodyPr wrap="square" lIns="0" tIns="0" rIns="0" bIns="0" rtlCol="0" anchor="ctr"/>
          <a:lstStyle/>
          <a:p>
            <a:pPr indent="0" marL="0">
              <a:buNone/>
            </a:pPr>
            <a:r>
              <a:rPr lang="en-US" sz="950" b="1" spc="200" kern="0" dirty="0">
                <a:solidFill>
                  <a:srgbClr val="8A6620"/>
                </a:solidFill>
                <a:latin typeface="Calibri" pitchFamily="34" charset="0"/>
                <a:ea typeface="Calibri" pitchFamily="34" charset="-122"/>
                <a:cs typeface="Calibri" pitchFamily="34" charset="-120"/>
              </a:rPr>
              <a:t>BY REGION INTENT</a:t>
            </a:r>
            <a:endParaRPr lang="en-US" sz="950" dirty="0"/>
          </a:p>
        </p:txBody>
      </p:sp>
      <p:graphicFrame>
        <p:nvGraphicFramePr>
          <p:cNvPr id="24" name="Chart 0" descr=""/>
          <p:cNvGraphicFramePr/>
          <p:nvPr/>
        </p:nvGraphicFramePr>
        <p:xfrm>
          <a:off x="475488" y="4480560"/>
          <a:ext cx="5394960" cy="210312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p:nvPr/>
        </p:nvSpPr>
        <p:spPr>
          <a:xfrm>
            <a:off x="6309360" y="4261104"/>
            <a:ext cx="5120640" cy="237744"/>
          </a:xfrm>
          <a:prstGeom prst="rect">
            <a:avLst/>
          </a:prstGeom>
          <a:noFill/>
          <a:ln/>
        </p:spPr>
        <p:txBody>
          <a:bodyPr wrap="square" lIns="0" tIns="0" rIns="0" bIns="0" rtlCol="0" anchor="ctr"/>
          <a:lstStyle/>
          <a:p>
            <a:pPr indent="0" marL="0">
              <a:buNone/>
            </a:pPr>
            <a:r>
              <a:rPr lang="en-US" sz="950" b="1" spc="200" kern="0" dirty="0">
                <a:solidFill>
                  <a:srgbClr val="8A6620"/>
                </a:solidFill>
                <a:latin typeface="Calibri" pitchFamily="34" charset="0"/>
                <a:ea typeface="Calibri" pitchFamily="34" charset="-122"/>
                <a:cs typeface="Calibri" pitchFamily="34" charset="-120"/>
              </a:rPr>
              <a:t>BY ENGAGEMENT</a:t>
            </a:r>
            <a:endParaRPr lang="en-US" sz="950" dirty="0"/>
          </a:p>
        </p:txBody>
      </p:sp>
      <p:sp>
        <p:nvSpPr>
          <p:cNvPr id="26" name="Text 23"/>
          <p:cNvSpPr/>
          <p:nvPr/>
        </p:nvSpPr>
        <p:spPr>
          <a:xfrm>
            <a:off x="6309360" y="4535424"/>
            <a:ext cx="5120640" cy="1097280"/>
          </a:xfrm>
          <a:prstGeom prst="rect">
            <a:avLst/>
          </a:prstGeom>
          <a:noFill/>
          <a:ln/>
        </p:spPr>
        <p:txBody>
          <a:bodyPr wrap="square" lIns="0" tIns="0" rIns="0" bIns="0" rtlCol="0" anchor="ctr"/>
          <a:lstStyle/>
          <a:p>
            <a:pPr marL="342900" indent="-342900">
              <a:spcAft>
                <a:spcPts val="400"/>
              </a:spcAft>
              <a:buSzPct val="100000"/>
              <a:buChar char="•"/>
            </a:pPr>
            <a:r>
              <a:rPr lang="en-US" sz="1150" b="1" dirty="0">
                <a:solidFill>
                  <a:srgbClr val="1A1714"/>
                </a:solidFill>
                <a:latin typeface="Calibri" pitchFamily="34" charset="0"/>
                <a:ea typeface="Calibri" pitchFamily="34" charset="-122"/>
                <a:cs typeface="Calibri" pitchFamily="34" charset="-120"/>
              </a:rPr>
              <a:t>Opens every issue 28%</a:t>
            </a:r>
            <a:endParaRPr lang="en-US" sz="1150" dirty="0"/>
          </a:p>
          <a:p>
            <a:pPr marL="342900" indent="-342900">
              <a:spcAft>
                <a:spcPts val="400"/>
              </a:spcAft>
              <a:buSzPct val="100000"/>
              <a:buChar char="•"/>
            </a:pPr>
            <a:r>
              <a:rPr lang="en-US" sz="1150" dirty="0">
                <a:solidFill>
                  <a:srgbClr val="3D3530"/>
                </a:solidFill>
                <a:latin typeface="Calibri" pitchFamily="34" charset="0"/>
                <a:ea typeface="Calibri" pitchFamily="34" charset="-122"/>
                <a:cs typeface="Calibri" pitchFamily="34" charset="-120"/>
              </a:rPr>
              <a:t>Most issues 34%</a:t>
            </a:r>
            <a:endParaRPr lang="en-US" sz="1150" dirty="0"/>
          </a:p>
          <a:p>
            <a:pPr marL="342900" indent="-342900">
              <a:spcAft>
                <a:spcPts val="400"/>
              </a:spcAft>
              <a:buSzPct val="100000"/>
              <a:buChar char="•"/>
            </a:pPr>
            <a:r>
              <a:rPr lang="en-US" sz="1150" dirty="0">
                <a:solidFill>
                  <a:srgbClr val="3D3530"/>
                </a:solidFill>
                <a:latin typeface="Calibri" pitchFamily="34" charset="0"/>
                <a:ea typeface="Calibri" pitchFamily="34" charset="-122"/>
                <a:cs typeface="Calibri" pitchFamily="34" charset="-120"/>
              </a:rPr>
              <a:t>Occasional 26%</a:t>
            </a:r>
            <a:endParaRPr lang="en-US" sz="1150" dirty="0"/>
          </a:p>
          <a:p>
            <a:pPr marL="342900" indent="-342900">
              <a:spcAft>
                <a:spcPts val="400"/>
              </a:spcAft>
              <a:buSzPct val="100000"/>
              <a:buChar char="•"/>
            </a:pPr>
            <a:r>
              <a:rPr lang="en-US" sz="1150" dirty="0">
                <a:solidFill>
                  <a:srgbClr val="3D3530"/>
                </a:solidFill>
                <a:latin typeface="Calibri" pitchFamily="34" charset="0"/>
                <a:ea typeface="Calibri" pitchFamily="34" charset="-122"/>
                <a:cs typeface="Calibri" pitchFamily="34" charset="-120"/>
              </a:rPr>
              <a:t>Re-engagement 12%</a:t>
            </a:r>
            <a:endParaRPr lang="en-US" sz="1150" dirty="0"/>
          </a:p>
          <a:p>
            <a:pPr indent="0" marL="0">
              <a:spcAft>
                <a:spcPts val="400"/>
              </a:spcAft>
              <a:buNone/>
            </a:pPr>
            <a:r>
              <a:rPr lang="en-US" sz="1150" i="1" dirty="0">
                <a:solidFill>
                  <a:srgbClr val="6B5F58"/>
                </a:solidFill>
                <a:latin typeface="Calibri" pitchFamily="34" charset="0"/>
                <a:ea typeface="Calibri" pitchFamily="34" charset="-122"/>
                <a:cs typeface="Calibri" pitchFamily="34" charset="-120"/>
              </a:rPr>
              <a:t>A frequency-capped campaign can buy the top two tiers only.</a:t>
            </a:r>
            <a:endParaRPr lang="en-US" sz="1150" dirty="0"/>
          </a:p>
        </p:txBody>
      </p:sp>
      <p:sp>
        <p:nvSpPr>
          <p:cNvPr id="27" name="Text 24"/>
          <p:cNvSpPr/>
          <p:nvPr/>
        </p:nvSpPr>
        <p:spPr>
          <a:xfrm>
            <a:off x="6309360" y="5669280"/>
            <a:ext cx="5120640" cy="237744"/>
          </a:xfrm>
          <a:prstGeom prst="rect">
            <a:avLst/>
          </a:prstGeom>
          <a:noFill/>
          <a:ln/>
        </p:spPr>
        <p:txBody>
          <a:bodyPr wrap="square" lIns="0" tIns="0" rIns="0" bIns="0" rtlCol="0" anchor="ctr"/>
          <a:lstStyle/>
          <a:p>
            <a:pPr indent="0" marL="0">
              <a:buNone/>
            </a:pPr>
            <a:r>
              <a:rPr lang="en-US" sz="950" b="1" spc="200" kern="0" dirty="0">
                <a:solidFill>
                  <a:srgbClr val="8A6620"/>
                </a:solidFill>
                <a:latin typeface="Calibri" pitchFamily="34" charset="0"/>
                <a:ea typeface="Calibri" pitchFamily="34" charset="-122"/>
                <a:cs typeface="Calibri" pitchFamily="34" charset="-120"/>
              </a:rPr>
              <a:t>BY GEOGRAPHY</a:t>
            </a:r>
            <a:endParaRPr lang="en-US" sz="950" dirty="0"/>
          </a:p>
        </p:txBody>
      </p:sp>
      <p:sp>
        <p:nvSpPr>
          <p:cNvPr id="28" name="Text 25"/>
          <p:cNvSpPr/>
          <p:nvPr/>
        </p:nvSpPr>
        <p:spPr>
          <a:xfrm>
            <a:off x="6309360" y="5925312"/>
            <a:ext cx="5120640" cy="676656"/>
          </a:xfrm>
          <a:prstGeom prst="rect">
            <a:avLst/>
          </a:prstGeom>
          <a:noFill/>
          <a:ln/>
        </p:spPr>
        <p:txBody>
          <a:bodyPr wrap="square" lIns="0" tIns="0" rIns="0" bIns="0" rtlCol="0" anchor="ctr"/>
          <a:lstStyle/>
          <a:p>
            <a:pPr indent="0" marL="0">
              <a:lnSpc>
                <a:spcPts val="1600"/>
              </a:lnSpc>
              <a:buNone/>
            </a:pPr>
            <a:r>
              <a:rPr lang="en-US" sz="1150" dirty="0">
                <a:solidFill>
                  <a:srgbClr val="3D3530"/>
                </a:solidFill>
                <a:latin typeface="Calibri" pitchFamily="34" charset="0"/>
                <a:ea typeface="Calibri" pitchFamily="34" charset="-122"/>
                <a:cs typeface="Calibri" pitchFamily="34" charset="-120"/>
              </a:rPr>
              <a:t>United States 58%  ·  United Kingdom 12%  ·  European Union 10%  ·  Canada 8%  ·  Australia &amp; New Zealand 7%  ·  rest of world 5%.  About two thirds of opens are on mobile.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INVENTORY &amp; RATES</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Newsletter placements, and what each one costs.</a:t>
            </a:r>
            <a:endParaRPr lang="en-US" sz="3300" dirty="0"/>
          </a:p>
        </p:txBody>
      </p:sp>
      <p:sp>
        <p:nvSpPr>
          <p:cNvPr id="6" name="Text 4"/>
          <p:cNvSpPr/>
          <p:nvPr/>
        </p:nvSpPr>
        <p:spPr>
          <a:xfrm>
            <a:off x="566928" y="2322576"/>
            <a:ext cx="10881360" cy="274320"/>
          </a:xfrm>
          <a:prstGeom prst="rect">
            <a:avLst/>
          </a:prstGeom>
          <a:noFill/>
          <a:ln/>
        </p:spPr>
        <p:txBody>
          <a:bodyPr wrap="square" lIns="0" tIns="0" rIns="0" bIns="0" rtlCol="0" anchor="ctr"/>
          <a:lstStyle/>
          <a:p>
            <a:pPr indent="0" marL="0">
              <a:buNone/>
            </a:pPr>
            <a:r>
              <a:rPr lang="en-US" sz="1300" i="1" dirty="0">
                <a:solidFill>
                  <a:srgbClr val="6B5F58"/>
                </a:solidFill>
                <a:latin typeface="Calibri" pitchFamily="34" charset="0"/>
                <a:ea typeface="Calibri" pitchFamily="34" charset="-122"/>
                <a:cs typeface="Calibri" pitchFamily="34" charset="-120"/>
              </a:rPr>
              <a:t>Rate card 2026, before volume and annual terms.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761488"/>
          <a:ext cx="11055096" cy="914400"/>
        </p:xfrm>
        <a:graphic>
          <a:graphicData uri="http://schemas.openxmlformats.org/drawingml/2006/table">
            <a:tbl>
              <a:tblPr/>
              <a:tblGrid>
                <a:gridCol w="2743200"/>
                <a:gridCol w="6025896"/>
                <a:gridCol w="2286000"/>
              </a:tblGrid>
              <a:tr h="438912">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PLACEMENT</a:t>
                      </a:r>
                      <a:endParaRPr lang="en-US" sz="950" dirty="0">
                        <a:latin typeface="Calibri" charset="0"/>
                        <a:ea typeface="Calibri" charset="0"/>
                        <a:cs typeface="Calibri" charset="0"/>
                      </a:endParaRPr>
                    </a:p>
                  </a:txBody>
                  <a:tcPr marL="128016" marR="128016" marT="54864" marB="54864"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WHAT IT IS</a:t>
                      </a:r>
                      <a:endParaRPr lang="en-US" sz="950" dirty="0">
                        <a:latin typeface="Calibri" charset="0"/>
                        <a:ea typeface="Calibri" charset="0"/>
                        <a:cs typeface="Calibri" charset="0"/>
                      </a:endParaRPr>
                    </a:p>
                  </a:txBody>
                  <a:tcPr marL="128016" marR="128016" marT="54864" marB="54864"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RATE</a:t>
                      </a:r>
                      <a:endParaRPr lang="en-US" sz="950" dirty="0">
                        <a:latin typeface="Calibri" charset="0"/>
                        <a:ea typeface="Calibri" charset="0"/>
                        <a:cs typeface="Calibri" charset="0"/>
                      </a:endParaRPr>
                    </a:p>
                  </a:txBody>
                  <a:tcPr marL="128016" marR="128016" marT="54864" marB="54864"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Primary sponsorship</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Top-of-issue billboard, logo lockup, 40 words, one link. One per issue.</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$2,500 / issue</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Native dispatch</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In-body sponsored block — image, 80–100 words in house voice, labelled. One per issue.</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$1,500 / issue</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Text link block</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Three-line classified in the resources footer.</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$600 / issue</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Segment-targeted send</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Your creative to one declared segment. 5,000-name minimum.</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$900 / 10k</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Points &amp; Miles solo send</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Standalone email to the award-travel segment (13,200). Card and financial services.</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Dedicated solo send</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Standalone email, full list, single advertiser.</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$4,500</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438912">
                <a:tc>
                  <a:txBody>
                    <a:bodyPr/>
                    <a:lstStyle/>
                    <a:p>
                      <a:pPr indent="0" marL="0">
                        <a:buNone/>
                      </a:pPr>
                      <a:r>
                        <a:rPr lang="en-US" sz="1200" b="1" dirty="0">
                          <a:solidFill>
                            <a:srgbClr val="1A1714"/>
                          </a:solidFill>
                          <a:latin typeface="Calibri" pitchFamily="34" charset="0"/>
                          <a:ea typeface="Calibri" pitchFamily="34" charset="-122"/>
                          <a:cs typeface="Calibri" pitchFamily="34" charset="-120"/>
                        </a:rPr>
                        <a:t>Presenting sponsor</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100" dirty="0">
                          <a:solidFill>
                            <a:srgbClr val="6B5F58"/>
                          </a:solidFill>
                          <a:latin typeface="Calibri" pitchFamily="34" charset="0"/>
                          <a:ea typeface="Calibri" pitchFamily="34" charset="-122"/>
                          <a:cs typeface="Calibri" pitchFamily="34" charset="-120"/>
                        </a:rPr>
                        <a:t>Primary slot in all 13 issues of a quarter, plus one solo send.</a:t>
                      </a:r>
                      <a:endParaRPr lang="en-US" sz="11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200" b="1" dirty="0">
                          <a:solidFill>
                            <a:srgbClr val="A0471C"/>
                          </a:solidFill>
                          <a:latin typeface="Calibri" pitchFamily="34" charset="0"/>
                          <a:ea typeface="Calibri" pitchFamily="34" charset="-122"/>
                          <a:cs typeface="Calibri" pitchFamily="34" charset="-120"/>
                        </a:rPr>
                        <a:t>$26,000 / quarter</a:t>
                      </a:r>
                      <a:endParaRPr lang="en-US" sz="1200" dirty="0">
                        <a:latin typeface="Calibri" charset="0"/>
                        <a:ea typeface="Calibri" charset="0"/>
                        <a:cs typeface="Calibri" charset="0"/>
                      </a:endParaRPr>
                    </a:p>
                  </a:txBody>
                  <a:tcPr marL="128016" marR="128016" marT="54864" marB="54864"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INVENTORY &amp; RATES</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Site display, content ownership, and commerce.</a:t>
            </a:r>
            <a:endParaRPr lang="en-US" sz="3300" dirty="0"/>
          </a:p>
        </p:txBody>
      </p:sp>
      <p:sp>
        <p:nvSpPr>
          <p:cNvPr id="6" name="Text 4"/>
          <p:cNvSpPr/>
          <p:nvPr/>
        </p:nvSpPr>
        <p:spPr>
          <a:xfrm>
            <a:off x="566928" y="2322576"/>
            <a:ext cx="10881360" cy="274320"/>
          </a:xfrm>
          <a:prstGeom prst="rect">
            <a:avLst/>
          </a:prstGeom>
          <a:noFill/>
          <a:ln/>
        </p:spPr>
        <p:txBody>
          <a:bodyPr wrap="square" lIns="0" tIns="0" rIns="0" bIns="0" rtlCol="0" anchor="ctr"/>
          <a:lstStyle/>
          <a:p>
            <a:pPr indent="0" marL="0">
              <a:buNone/>
            </a:pPr>
            <a:r>
              <a:rPr lang="en-US" sz="1300" i="1" dirty="0">
                <a:solidFill>
                  <a:srgbClr val="6B5F58"/>
                </a:solidFill>
                <a:latin typeface="Calibri" pitchFamily="34" charset="0"/>
                <a:ea typeface="Calibri" pitchFamily="34" charset="-122"/>
                <a:cs typeface="Calibri" pitchFamily="34" charset="-120"/>
              </a:rPr>
              <a:t>Programmatic buyers can transact the display inventory directly through PGAM's own seats as a private marketplace deal.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761488"/>
          <a:ext cx="11055096" cy="914400"/>
        </p:xfrm>
        <a:graphic>
          <a:graphicData uri="http://schemas.openxmlformats.org/drawingml/2006/table">
            <a:tbl>
              <a:tblPr/>
              <a:tblGrid>
                <a:gridCol w="2651760"/>
                <a:gridCol w="6117336"/>
                <a:gridCol w="2286000"/>
              </a:tblGrid>
              <a:tr h="269748">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PLACEMENT</a:t>
                      </a:r>
                      <a:endParaRPr lang="en-US" sz="950" dirty="0">
                        <a:latin typeface="Calibri" charset="0"/>
                        <a:ea typeface="Calibri" charset="0"/>
                        <a:cs typeface="Calibri" charset="0"/>
                      </a:endParaRPr>
                    </a:p>
                  </a:txBody>
                  <a:tcPr marL="128016" marR="128016" marT="36576" marB="36576"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WHAT IT IS</a:t>
                      </a:r>
                      <a:endParaRPr lang="en-US" sz="950" dirty="0">
                        <a:latin typeface="Calibri" charset="0"/>
                        <a:ea typeface="Calibri" charset="0"/>
                        <a:cs typeface="Calibri" charset="0"/>
                      </a:endParaRPr>
                    </a:p>
                  </a:txBody>
                  <a:tcPr marL="128016" marR="128016" marT="36576" marB="36576"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950" b="1" spc="180" kern="0" dirty="0">
                          <a:solidFill>
                            <a:srgbClr val="8A6620"/>
                          </a:solidFill>
                          <a:latin typeface="Calibri" pitchFamily="34" charset="0"/>
                          <a:ea typeface="Calibri" pitchFamily="34" charset="-122"/>
                          <a:cs typeface="Calibri" pitchFamily="34" charset="-120"/>
                        </a:rPr>
                        <a:t>RATE</a:t>
                      </a:r>
                      <a:endParaRPr lang="en-US" sz="950" dirty="0">
                        <a:latin typeface="Calibri" charset="0"/>
                        <a:ea typeface="Calibri" charset="0"/>
                        <a:cs typeface="Calibri" charset="0"/>
                      </a:endParaRPr>
                    </a:p>
                  </a:txBody>
                  <a:tcPr marL="128016" marR="128016" marT="36576" marB="36576" anchor="b">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950" b="1" spc="180" kern="0" dirty="0">
                          <a:solidFill>
                            <a:srgbClr val="FFFFFF"/>
                          </a:solidFill>
                          <a:latin typeface="Calibri" pitchFamily="34" charset="0"/>
                          <a:ea typeface="Calibri" pitchFamily="34" charset="-122"/>
                          <a:cs typeface="Calibri" pitchFamily="34" charset="-120"/>
                        </a:rPr>
                        <a:t>DISPLAY</a:t>
                      </a:r>
                      <a:endParaRPr lang="en-US" sz="9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Run of site</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Responsive leaderboard and in-content 300×250. Max three in-content units per article.</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$8–12 CPM</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High impact</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Sticky 300×600 half-page, desktop sidebar. Highest viewability on the property.</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$15–22 CPM</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Mobile anchor</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320×50 sticky, five-second delay to protect the reading experience.</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$10–14 CPM</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Trip Planner results</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Sponsored slot inside a generated itinerary — destination, dates, and budget declared.</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$18–25 CPM</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950" b="1" spc="180" kern="0" dirty="0">
                          <a:solidFill>
                            <a:srgbClr val="FFFFFF"/>
                          </a:solidFill>
                          <a:latin typeface="Calibri" pitchFamily="34" charset="0"/>
                          <a:ea typeface="Calibri" pitchFamily="34" charset="-122"/>
                          <a:cs typeface="Calibri" pitchFamily="34" charset="-120"/>
                        </a:rPr>
                        <a:t>CONTENT &amp; OWNERSHIP</a:t>
                      </a:r>
                      <a:endParaRPr lang="en-US" sz="9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Sponsored guide</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1,500+ words to house editorial standard, labelled, evergreen, internally linked.</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$1,500–3,500</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Region hub sponsorship</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Presenting brand on a region hub and its guides for 30 days.</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$3,000 / month</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Homepage takeover</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Hero surround and trust-bar placement, 24 hours, one advertiser.</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$2,500 / day</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950" b="1" spc="180" kern="0" dirty="0">
                          <a:solidFill>
                            <a:srgbClr val="FFFFFF"/>
                          </a:solidFill>
                          <a:latin typeface="Calibri" pitchFamily="34" charset="0"/>
                          <a:ea typeface="Calibri" pitchFamily="34" charset="-122"/>
                          <a:cs typeface="Calibri" pitchFamily="34" charset="-120"/>
                        </a:rPr>
                        <a:t>COMMERCE</a:t>
                      </a:r>
                      <a:endParaRPr lang="en-US" sz="9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c>
                  <a:txBody>
                    <a:bodyPr/>
                    <a:lstStyle/>
                    <a:p>
                      <a:pPr indent="0" marL="0">
                        <a:buNone/>
                      </a:pPr>
                      <a:endParaRPr lang="en-US" sz="1200" dirty="0"/>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1A2634"/>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Commerce partnership</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Preferred placement in booking CTAs, comparison tables, and planner output.</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Custom</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r h="269748">
                <a:tc>
                  <a:txBody>
                    <a:bodyPr/>
                    <a:lstStyle/>
                    <a:p>
                      <a:pPr indent="0" marL="0">
                        <a:buNone/>
                      </a:pPr>
                      <a:r>
                        <a:rPr lang="en-US" sz="1150" b="1" dirty="0">
                          <a:solidFill>
                            <a:srgbClr val="1A1714"/>
                          </a:solidFill>
                          <a:latin typeface="Calibri" pitchFamily="34" charset="0"/>
                          <a:ea typeface="Calibri" pitchFamily="34" charset="-122"/>
                          <a:cs typeface="Calibri" pitchFamily="34" charset="-120"/>
                        </a:rPr>
                        <a:t>Launch package</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indent="0" marL="0">
                        <a:buNone/>
                      </a:pPr>
                      <a:r>
                        <a:rPr lang="en-US" sz="1050" dirty="0">
                          <a:solidFill>
                            <a:srgbClr val="6B5F58"/>
                          </a:solidFill>
                          <a:latin typeface="Calibri" pitchFamily="34" charset="0"/>
                          <a:ea typeface="Calibri" pitchFamily="34" charset="-122"/>
                          <a:cs typeface="Calibri" pitchFamily="34" charset="-120"/>
                        </a:rPr>
                        <a:t>Four newsletter primaries, one region hub month, one sponsored guide. Value $16,500.</a:t>
                      </a:r>
                      <a:endParaRPr lang="en-US" sz="10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c>
                  <a:txBody>
                    <a:bodyPr/>
                    <a:lstStyle/>
                    <a:p>
                      <a:pPr algn="r" indent="0" marL="0">
                        <a:buNone/>
                      </a:pPr>
                      <a:r>
                        <a:rPr lang="en-US" sz="1150" b="1" dirty="0">
                          <a:solidFill>
                            <a:srgbClr val="A0471C"/>
                          </a:solidFill>
                          <a:latin typeface="Calibri" pitchFamily="34" charset="0"/>
                          <a:ea typeface="Calibri" pitchFamily="34" charset="-122"/>
                          <a:cs typeface="Calibri" pitchFamily="34" charset="-120"/>
                        </a:rPr>
                        <a:t>$14,000</a:t>
                      </a:r>
                      <a:endParaRPr lang="en-US" sz="1150" dirty="0">
                        <a:latin typeface="Calibri" charset="0"/>
                        <a:ea typeface="Calibri" charset="0"/>
                        <a:cs typeface="Calibri" charset="0"/>
                      </a:endParaRPr>
                    </a:p>
                  </a:txBody>
                  <a:tcPr marL="128016" marR="128016" marT="36576" marB="36576" anchor="ctr">
                    <a:lnL w="6350" cap="flat" cmpd="sng" algn="ctr">
                      <a:solidFill>
                        <a:srgbClr val="EDE5D6"/>
                      </a:solidFill>
                      <a:prstDash val="solid"/>
                      <a:round/>
                      <a:headEnd type="none" w="med" len="med"/>
                      <a:tailEnd type="none" w="med" len="med"/>
                    </a:lnL>
                    <a:lnR w="6350" cap="flat" cmpd="sng" algn="ctr">
                      <a:solidFill>
                        <a:srgbClr val="EDE5D6"/>
                      </a:solidFill>
                      <a:prstDash val="solid"/>
                      <a:round/>
                      <a:headEnd type="none" w="med" len="med"/>
                      <a:tailEnd type="none" w="med" len="med"/>
                    </a:lnR>
                    <a:lnT w="6350" cap="flat" cmpd="sng" algn="ctr">
                      <a:solidFill>
                        <a:srgbClr val="EDE5D6"/>
                      </a:solidFill>
                      <a:prstDash val="solid"/>
                      <a:round/>
                      <a:headEnd type="none" w="med" len="med"/>
                      <a:tailEnd type="none" w="med" len="med"/>
                    </a:lnT>
                    <a:lnB w="6350" cap="flat" cmpd="sng" algn="ctr">
                      <a:solidFill>
                        <a:srgbClr val="EDE5D6"/>
                      </a:solidFill>
                      <a:prstDash val="solid"/>
                      <a:round/>
                      <a:headEnd type="none" w="med" len="med"/>
                      <a:tailEnd type="none" w="med" len="med"/>
                    </a:lnB>
                    <a:solidFill>
                      <a:srgbClr val="FA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A0471C"/>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8A6620"/>
                </a:solidFill>
                <a:latin typeface="Calibri" pitchFamily="34" charset="0"/>
                <a:ea typeface="Calibri" pitchFamily="34" charset="-122"/>
                <a:cs typeface="Calibri" pitchFamily="34" charset="-120"/>
              </a:rPr>
              <a:t>STANDARDS</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1A1714"/>
                </a:solidFill>
                <a:latin typeface="Century Schoolbook" pitchFamily="34" charset="0"/>
                <a:ea typeface="Century Schoolbook" pitchFamily="34" charset="-122"/>
                <a:cs typeface="Century Schoolbook" pitchFamily="34" charset="-120"/>
              </a:rPr>
              <a:t>Clean supply, clean pages, clean disclosure.</a:t>
            </a:r>
            <a:endParaRPr lang="en-US" sz="3300" dirty="0"/>
          </a:p>
        </p:txBody>
      </p:sp>
      <p:sp>
        <p:nvSpPr>
          <p:cNvPr id="6" name="Text 4"/>
          <p:cNvSpPr/>
          <p:nvPr/>
        </p:nvSpPr>
        <p:spPr>
          <a:xfrm>
            <a:off x="566928" y="2322576"/>
            <a:ext cx="10881360" cy="786384"/>
          </a:xfrm>
          <a:prstGeom prst="rect">
            <a:avLst/>
          </a:prstGeom>
          <a:noFill/>
          <a:ln/>
        </p:spPr>
        <p:txBody>
          <a:bodyPr wrap="square" lIns="0" tIns="0" rIns="0" bIns="0" rtlCol="0" anchor="t"/>
          <a:lstStyle/>
          <a:p>
            <a:pPr indent="0" marL="0">
              <a:lnSpc>
                <a:spcPts val="2100"/>
              </a:lnSpc>
              <a:buNone/>
            </a:pPr>
            <a:r>
              <a:rPr lang="en-US" sz="1450" dirty="0">
                <a:solidFill>
                  <a:srgbClr val="3D3530"/>
                </a:solidFill>
                <a:latin typeface="Calibri" pitchFamily="34" charset="0"/>
                <a:ea typeface="Calibri" pitchFamily="34" charset="-122"/>
                <a:cs typeface="Calibri" pitchFamily="34" charset="-120"/>
              </a:rPr>
              <a:t>Most of what depresses performance in this category is self-inflicted: too many units, unverified supply, and disclosure treated as an afterthought. Here is what we hold to.</a:t>
            </a:r>
            <a:endParaRPr lang="en-US" sz="1450" dirty="0"/>
          </a:p>
        </p:txBody>
      </p:sp>
      <p:sp>
        <p:nvSpPr>
          <p:cNvPr id="7" name="Shape 5"/>
          <p:cNvSpPr/>
          <p:nvPr/>
        </p:nvSpPr>
        <p:spPr>
          <a:xfrm>
            <a:off x="566928" y="3200400"/>
            <a:ext cx="3502152" cy="1481328"/>
          </a:xfrm>
          <a:prstGeom prst="roundRect">
            <a:avLst>
              <a:gd name="adj" fmla="val 1852"/>
            </a:avLst>
          </a:prstGeom>
          <a:solidFill>
            <a:srgbClr val="FAF7F2"/>
          </a:solidFill>
          <a:ln/>
        </p:spPr>
      </p:sp>
      <p:sp>
        <p:nvSpPr>
          <p:cNvPr id="8" name="Shape 6"/>
          <p:cNvSpPr/>
          <p:nvPr/>
        </p:nvSpPr>
        <p:spPr>
          <a:xfrm>
            <a:off x="804672" y="3419856"/>
            <a:ext cx="237744" cy="237744"/>
          </a:xfrm>
          <a:prstGeom prst="ellipse">
            <a:avLst/>
          </a:prstGeom>
          <a:solidFill>
            <a:srgbClr val="A0471C"/>
          </a:solidFill>
          <a:ln/>
        </p:spPr>
      </p:sp>
      <p:sp>
        <p:nvSpPr>
          <p:cNvPr id="9" name="Text 7"/>
          <p:cNvSpPr/>
          <p:nvPr/>
        </p:nvSpPr>
        <p:spPr>
          <a:xfrm>
            <a:off x="1133856" y="3383280"/>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Verified, direct supply</a:t>
            </a:r>
            <a:endParaRPr lang="en-US" sz="1350" dirty="0"/>
          </a:p>
        </p:txBody>
      </p:sp>
      <p:sp>
        <p:nvSpPr>
          <p:cNvPr id="10" name="Text 8"/>
          <p:cNvSpPr/>
          <p:nvPr/>
        </p:nvSpPr>
        <p:spPr>
          <a:xfrm>
            <a:off x="804672" y="3749040"/>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Authorised seats are declared DIRECT in ads.txt and machine-checked every day. A missing or downgraded line pages an engineer the same morning.</a:t>
            </a:r>
            <a:endParaRPr lang="en-US" sz="1050" dirty="0"/>
          </a:p>
        </p:txBody>
      </p:sp>
      <p:sp>
        <p:nvSpPr>
          <p:cNvPr id="11" name="Shape 9"/>
          <p:cNvSpPr/>
          <p:nvPr/>
        </p:nvSpPr>
        <p:spPr>
          <a:xfrm>
            <a:off x="4343400" y="3200400"/>
            <a:ext cx="3502152" cy="1481328"/>
          </a:xfrm>
          <a:prstGeom prst="roundRect">
            <a:avLst>
              <a:gd name="adj" fmla="val 1852"/>
            </a:avLst>
          </a:prstGeom>
          <a:solidFill>
            <a:srgbClr val="FAF7F2"/>
          </a:solidFill>
          <a:ln/>
        </p:spPr>
      </p:sp>
      <p:sp>
        <p:nvSpPr>
          <p:cNvPr id="12" name="Shape 10"/>
          <p:cNvSpPr/>
          <p:nvPr/>
        </p:nvSpPr>
        <p:spPr>
          <a:xfrm>
            <a:off x="4581144" y="3419856"/>
            <a:ext cx="237744" cy="237744"/>
          </a:xfrm>
          <a:prstGeom prst="ellipse">
            <a:avLst/>
          </a:prstGeom>
          <a:solidFill>
            <a:srgbClr val="A0471C"/>
          </a:solidFill>
          <a:ln/>
        </p:spPr>
      </p:sp>
      <p:sp>
        <p:nvSpPr>
          <p:cNvPr id="13" name="Text 11"/>
          <p:cNvSpPr/>
          <p:nvPr/>
        </p:nvSpPr>
        <p:spPr>
          <a:xfrm>
            <a:off x="4910328" y="3383280"/>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Owned and operated</a:t>
            </a:r>
            <a:endParaRPr lang="en-US" sz="1350" dirty="0"/>
          </a:p>
        </p:txBody>
      </p:sp>
      <p:sp>
        <p:nvSpPr>
          <p:cNvPr id="14" name="Text 12"/>
          <p:cNvSpPr/>
          <p:nvPr/>
        </p:nvSpPr>
        <p:spPr>
          <a:xfrm>
            <a:off x="4581144" y="3749040"/>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One publisher, one domain, no arbitraged or resold traffic in the path. You know exactly what you bought.</a:t>
            </a:r>
            <a:endParaRPr lang="en-US" sz="1050" dirty="0"/>
          </a:p>
        </p:txBody>
      </p:sp>
      <p:sp>
        <p:nvSpPr>
          <p:cNvPr id="15" name="Shape 13"/>
          <p:cNvSpPr/>
          <p:nvPr/>
        </p:nvSpPr>
        <p:spPr>
          <a:xfrm>
            <a:off x="8119872" y="3200400"/>
            <a:ext cx="3502152" cy="1481328"/>
          </a:xfrm>
          <a:prstGeom prst="roundRect">
            <a:avLst>
              <a:gd name="adj" fmla="val 1852"/>
            </a:avLst>
          </a:prstGeom>
          <a:solidFill>
            <a:srgbClr val="FAF7F2"/>
          </a:solidFill>
          <a:ln/>
        </p:spPr>
      </p:sp>
      <p:sp>
        <p:nvSpPr>
          <p:cNvPr id="16" name="Shape 14"/>
          <p:cNvSpPr/>
          <p:nvPr/>
        </p:nvSpPr>
        <p:spPr>
          <a:xfrm>
            <a:off x="8357616" y="3419856"/>
            <a:ext cx="237744" cy="237744"/>
          </a:xfrm>
          <a:prstGeom prst="ellipse">
            <a:avLst/>
          </a:prstGeom>
          <a:solidFill>
            <a:srgbClr val="A0471C"/>
          </a:solidFill>
          <a:ln/>
        </p:spPr>
      </p:sp>
      <p:sp>
        <p:nvSpPr>
          <p:cNvPr id="17" name="Text 15"/>
          <p:cNvSpPr/>
          <p:nvPr/>
        </p:nvSpPr>
        <p:spPr>
          <a:xfrm>
            <a:off x="8686800" y="3383280"/>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Three units, hard cap</a:t>
            </a:r>
            <a:endParaRPr lang="en-US" sz="1350" dirty="0"/>
          </a:p>
        </p:txBody>
      </p:sp>
      <p:sp>
        <p:nvSpPr>
          <p:cNvPr id="18" name="Text 16"/>
          <p:cNvSpPr/>
          <p:nvPr/>
        </p:nvSpPr>
        <p:spPr>
          <a:xfrm>
            <a:off x="8357616" y="3749040"/>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No more than three in-content ads per article, none in the first 200 words, never two stacked. Density is capped to protect viewability.</a:t>
            </a:r>
            <a:endParaRPr lang="en-US" sz="1050" dirty="0"/>
          </a:p>
        </p:txBody>
      </p:sp>
      <p:sp>
        <p:nvSpPr>
          <p:cNvPr id="19" name="Shape 17"/>
          <p:cNvSpPr/>
          <p:nvPr/>
        </p:nvSpPr>
        <p:spPr>
          <a:xfrm>
            <a:off x="566928" y="4919472"/>
            <a:ext cx="3502152" cy="1481328"/>
          </a:xfrm>
          <a:prstGeom prst="roundRect">
            <a:avLst>
              <a:gd name="adj" fmla="val 1852"/>
            </a:avLst>
          </a:prstGeom>
          <a:solidFill>
            <a:srgbClr val="FAF7F2"/>
          </a:solidFill>
          <a:ln/>
        </p:spPr>
      </p:sp>
      <p:sp>
        <p:nvSpPr>
          <p:cNvPr id="20" name="Shape 18"/>
          <p:cNvSpPr/>
          <p:nvPr/>
        </p:nvSpPr>
        <p:spPr>
          <a:xfrm>
            <a:off x="804672" y="5138928"/>
            <a:ext cx="237744" cy="237744"/>
          </a:xfrm>
          <a:prstGeom prst="ellipse">
            <a:avLst/>
          </a:prstGeom>
          <a:solidFill>
            <a:srgbClr val="A0471C"/>
          </a:solidFill>
          <a:ln/>
        </p:spPr>
      </p:sp>
      <p:sp>
        <p:nvSpPr>
          <p:cNvPr id="21" name="Text 19"/>
          <p:cNvSpPr/>
          <p:nvPr/>
        </p:nvSpPr>
        <p:spPr>
          <a:xfrm>
            <a:off x="1133856" y="5102352"/>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No dark patterns</a:t>
            </a:r>
            <a:endParaRPr lang="en-US" sz="1350" dirty="0"/>
          </a:p>
        </p:txBody>
      </p:sp>
      <p:sp>
        <p:nvSpPr>
          <p:cNvPr id="22" name="Text 20"/>
          <p:cNvSpPr/>
          <p:nvPr/>
        </p:nvSpPr>
        <p:spPr>
          <a:xfrm>
            <a:off x="804672" y="5468112"/>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No pop-ups, pop-unders, interstitials, or auto-playing video. Core Web Vitals are a revenue input here, not a compliance chore.</a:t>
            </a:r>
            <a:endParaRPr lang="en-US" sz="1050" dirty="0"/>
          </a:p>
        </p:txBody>
      </p:sp>
      <p:sp>
        <p:nvSpPr>
          <p:cNvPr id="23" name="Shape 21"/>
          <p:cNvSpPr/>
          <p:nvPr/>
        </p:nvSpPr>
        <p:spPr>
          <a:xfrm>
            <a:off x="4343400" y="4919472"/>
            <a:ext cx="3502152" cy="1481328"/>
          </a:xfrm>
          <a:prstGeom prst="roundRect">
            <a:avLst>
              <a:gd name="adj" fmla="val 1852"/>
            </a:avLst>
          </a:prstGeom>
          <a:solidFill>
            <a:srgbClr val="FAF7F2"/>
          </a:solidFill>
          <a:ln/>
        </p:spPr>
      </p:sp>
      <p:sp>
        <p:nvSpPr>
          <p:cNvPr id="24" name="Shape 22"/>
          <p:cNvSpPr/>
          <p:nvPr/>
        </p:nvSpPr>
        <p:spPr>
          <a:xfrm>
            <a:off x="4581144" y="5138928"/>
            <a:ext cx="237744" cy="237744"/>
          </a:xfrm>
          <a:prstGeom prst="ellipse">
            <a:avLst/>
          </a:prstGeom>
          <a:solidFill>
            <a:srgbClr val="A0471C"/>
          </a:solidFill>
          <a:ln/>
        </p:spPr>
      </p:sp>
      <p:sp>
        <p:nvSpPr>
          <p:cNvPr id="25" name="Text 23"/>
          <p:cNvSpPr/>
          <p:nvPr/>
        </p:nvSpPr>
        <p:spPr>
          <a:xfrm>
            <a:off x="4910328" y="5102352"/>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Labelled, always</a:t>
            </a:r>
            <a:endParaRPr lang="en-US" sz="1350" dirty="0"/>
          </a:p>
        </p:txBody>
      </p:sp>
      <p:sp>
        <p:nvSpPr>
          <p:cNvPr id="26" name="Text 24"/>
          <p:cNvSpPr/>
          <p:nvPr/>
        </p:nvSpPr>
        <p:spPr>
          <a:xfrm>
            <a:off x="4581144" y="5468112"/>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Sponsored labels above the fold, paid links marked, affiliate relationships disclosed to FTC standard on every page carrying them.</a:t>
            </a:r>
            <a:endParaRPr lang="en-US" sz="1050" dirty="0"/>
          </a:p>
        </p:txBody>
      </p:sp>
      <p:sp>
        <p:nvSpPr>
          <p:cNvPr id="27" name="Shape 25"/>
          <p:cNvSpPr/>
          <p:nvPr/>
        </p:nvSpPr>
        <p:spPr>
          <a:xfrm>
            <a:off x="8119872" y="4919472"/>
            <a:ext cx="3502152" cy="1481328"/>
          </a:xfrm>
          <a:prstGeom prst="roundRect">
            <a:avLst>
              <a:gd name="adj" fmla="val 1852"/>
            </a:avLst>
          </a:prstGeom>
          <a:solidFill>
            <a:srgbClr val="FAF7F2"/>
          </a:solidFill>
          <a:ln/>
        </p:spPr>
      </p:sp>
      <p:sp>
        <p:nvSpPr>
          <p:cNvPr id="28" name="Shape 26"/>
          <p:cNvSpPr/>
          <p:nvPr/>
        </p:nvSpPr>
        <p:spPr>
          <a:xfrm>
            <a:off x="8357616" y="5138928"/>
            <a:ext cx="237744" cy="237744"/>
          </a:xfrm>
          <a:prstGeom prst="ellipse">
            <a:avLst/>
          </a:prstGeom>
          <a:solidFill>
            <a:srgbClr val="A0471C"/>
          </a:solidFill>
          <a:ln/>
        </p:spPr>
      </p:sp>
      <p:sp>
        <p:nvSpPr>
          <p:cNvPr id="29" name="Text 27"/>
          <p:cNvSpPr/>
          <p:nvPr/>
        </p:nvSpPr>
        <p:spPr>
          <a:xfrm>
            <a:off x="8686800" y="5102352"/>
            <a:ext cx="2697480" cy="292608"/>
          </a:xfrm>
          <a:prstGeom prst="rect">
            <a:avLst/>
          </a:prstGeom>
          <a:noFill/>
          <a:ln/>
        </p:spPr>
        <p:txBody>
          <a:bodyPr wrap="square" lIns="0" tIns="0" rIns="0" bIns="0" rtlCol="0" anchor="ctr"/>
          <a:lstStyle/>
          <a:p>
            <a:pPr indent="0" marL="0">
              <a:buNone/>
            </a:pPr>
            <a:r>
              <a:rPr lang="en-US" sz="1350" b="1" dirty="0">
                <a:solidFill>
                  <a:srgbClr val="1A1714"/>
                </a:solidFill>
                <a:latin typeface="Century Schoolbook" pitchFamily="34" charset="0"/>
                <a:ea typeface="Century Schoolbook" pitchFamily="34" charset="-122"/>
                <a:cs typeface="Century Schoolbook" pitchFamily="34" charset="-120"/>
              </a:rPr>
              <a:t>Editorial independence</a:t>
            </a:r>
            <a:endParaRPr lang="en-US" sz="1350" dirty="0"/>
          </a:p>
        </p:txBody>
      </p:sp>
      <p:sp>
        <p:nvSpPr>
          <p:cNvPr id="30" name="Text 28"/>
          <p:cNvSpPr/>
          <p:nvPr/>
        </p:nvSpPr>
        <p:spPr>
          <a:xfrm>
            <a:off x="8357616" y="5468112"/>
            <a:ext cx="3026664" cy="822960"/>
          </a:xfrm>
          <a:prstGeom prst="rect">
            <a:avLst/>
          </a:prstGeom>
          <a:noFill/>
          <a:ln/>
        </p:spPr>
        <p:txBody>
          <a:bodyPr wrap="square" lIns="0" tIns="0" rIns="0" bIns="0" rtlCol="0" anchor="ctr"/>
          <a:lstStyle/>
          <a:p>
            <a:pPr indent="0" marL="0">
              <a:lnSpc>
                <a:spcPts val="1450"/>
              </a:lnSpc>
              <a:buNone/>
            </a:pPr>
            <a:r>
              <a:rPr lang="en-US" sz="1050" dirty="0">
                <a:solidFill>
                  <a:srgbClr val="6B5F58"/>
                </a:solidFill>
                <a:latin typeface="Calibri" pitchFamily="34" charset="0"/>
                <a:ea typeface="Calibri" pitchFamily="34" charset="-122"/>
                <a:cs typeface="Calibri" pitchFamily="34" charset="-120"/>
              </a:rPr>
              <a:t>Sponsorship never buys a ranking, a rewrite, or the removal of a recommendation. That is why a click here is worth buying.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634"/>
        </a:solidFill>
      </p:bgPr>
    </p:bg>
    <p:spTree>
      <p:nvGrpSpPr>
        <p:cNvPr id="1" name=""/>
        <p:cNvGrpSpPr/>
        <p:nvPr/>
      </p:nvGrpSpPr>
      <p:grpSpPr>
        <a:xfrm>
          <a:off x="0" y="0"/>
          <a:ext cx="0" cy="0"/>
          <a:chOff x="0" y="0"/>
          <a:chExt cx="0" cy="0"/>
        </a:xfrm>
      </p:grpSpPr>
      <p:sp>
        <p:nvSpPr>
          <p:cNvPr id="2" name="Shape 0"/>
          <p:cNvSpPr/>
          <p:nvPr/>
        </p:nvSpPr>
        <p:spPr>
          <a:xfrm>
            <a:off x="566928" y="566928"/>
            <a:ext cx="329184" cy="329184"/>
          </a:xfrm>
          <a:prstGeom prst="ellipse">
            <a:avLst/>
          </a:prstGeom>
          <a:solidFill>
            <a:srgbClr val="E08048"/>
          </a:solidFill>
          <a:ln/>
        </p:spPr>
      </p:sp>
      <p:sp>
        <p:nvSpPr>
          <p:cNvPr id="3" name="Text 1"/>
          <p:cNvSpPr/>
          <p:nvPr/>
        </p:nvSpPr>
        <p:spPr>
          <a:xfrm>
            <a:off x="566928" y="566928"/>
            <a:ext cx="329184" cy="329184"/>
          </a:xfrm>
          <a:prstGeom prst="rect">
            <a:avLst/>
          </a:prstGeom>
          <a:noFill/>
          <a:ln/>
        </p:spPr>
        <p:txBody>
          <a:bodyPr wrap="square" lIns="0" tIns="0" rIns="0" bIns="0" rtlCol="0" anchor="ctr"/>
          <a:lstStyle/>
          <a:p>
            <a:pPr algn="ctr" indent="0" marL="0">
              <a:buNone/>
            </a:pPr>
            <a:r>
              <a:rPr lang="en-US" sz="1200" b="1" dirty="0">
                <a:solidFill>
                  <a:srgbClr val="1A2634"/>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1042416" y="566928"/>
            <a:ext cx="6858000" cy="329184"/>
          </a:xfrm>
          <a:prstGeom prst="rect">
            <a:avLst/>
          </a:prstGeom>
          <a:noFill/>
          <a:ln/>
        </p:spPr>
        <p:txBody>
          <a:bodyPr wrap="square" lIns="0" tIns="0" rIns="0" bIns="0" rtlCol="0" anchor="ctr"/>
          <a:lstStyle/>
          <a:p>
            <a:pPr indent="0" marL="0">
              <a:buNone/>
            </a:pPr>
            <a:r>
              <a:rPr lang="en-US" sz="1100" b="1" spc="240" kern="0" dirty="0">
                <a:solidFill>
                  <a:srgbClr val="D4A843"/>
                </a:solidFill>
                <a:latin typeface="Calibri" pitchFamily="34" charset="0"/>
                <a:ea typeface="Calibri" pitchFamily="34" charset="-122"/>
                <a:cs typeface="Calibri" pitchFamily="34" charset="-120"/>
              </a:rPr>
              <a:t>NEXT</a:t>
            </a:r>
            <a:endParaRPr lang="en-US" sz="1100" dirty="0"/>
          </a:p>
        </p:txBody>
      </p:sp>
      <p:sp>
        <p:nvSpPr>
          <p:cNvPr id="5" name="Text 3"/>
          <p:cNvSpPr/>
          <p:nvPr/>
        </p:nvSpPr>
        <p:spPr>
          <a:xfrm>
            <a:off x="566928" y="1097280"/>
            <a:ext cx="9326880" cy="1188720"/>
          </a:xfrm>
          <a:prstGeom prst="rect">
            <a:avLst/>
          </a:prstGeom>
          <a:noFill/>
          <a:ln/>
        </p:spPr>
        <p:txBody>
          <a:bodyPr wrap="square" lIns="0" tIns="0" rIns="0" bIns="0" rtlCol="0" anchor="t"/>
          <a:lstStyle/>
          <a:p>
            <a:pPr indent="0" marL="0">
              <a:lnSpc>
                <a:spcPts val="3600"/>
              </a:lnSpc>
              <a:buNone/>
            </a:pPr>
            <a:r>
              <a:rPr lang="en-US" sz="3300" b="1" dirty="0">
                <a:solidFill>
                  <a:srgbClr val="F2EDE4"/>
                </a:solidFill>
                <a:latin typeface="Century Schoolbook" pitchFamily="34" charset="0"/>
                <a:ea typeface="Century Schoolbook" pitchFamily="34" charset="-122"/>
                <a:cs typeface="Century Schoolbook" pitchFamily="34" charset="-120"/>
              </a:rPr>
              <a:t>Let's build the plan against a segment, not a guess.</a:t>
            </a:r>
            <a:endParaRPr lang="en-US" sz="3300" dirty="0"/>
          </a:p>
        </p:txBody>
      </p:sp>
      <p:sp>
        <p:nvSpPr>
          <p:cNvPr id="6" name="Shape 4"/>
          <p:cNvSpPr/>
          <p:nvPr/>
        </p:nvSpPr>
        <p:spPr>
          <a:xfrm>
            <a:off x="566928" y="2560320"/>
            <a:ext cx="384048" cy="384048"/>
          </a:xfrm>
          <a:prstGeom prst="ellipse">
            <a:avLst/>
          </a:prstGeom>
          <a:solidFill>
            <a:srgbClr val="E08048"/>
          </a:solidFill>
          <a:ln/>
        </p:spPr>
      </p:sp>
      <p:sp>
        <p:nvSpPr>
          <p:cNvPr id="7" name="Text 5"/>
          <p:cNvSpPr/>
          <p:nvPr/>
        </p:nvSpPr>
        <p:spPr>
          <a:xfrm>
            <a:off x="566928" y="2560320"/>
            <a:ext cx="384048" cy="384048"/>
          </a:xfrm>
          <a:prstGeom prst="rect">
            <a:avLst/>
          </a:prstGeom>
          <a:noFill/>
          <a:ln/>
        </p:spPr>
        <p:txBody>
          <a:bodyPr wrap="square" lIns="0" tIns="0" rIns="0" bIns="0" rtlCol="0" anchor="ctr"/>
          <a:lstStyle/>
          <a:p>
            <a:pPr algn="ctr" indent="0" marL="0">
              <a:buNone/>
            </a:pPr>
            <a:r>
              <a:rPr lang="en-US" sz="1300" b="1" dirty="0">
                <a:solidFill>
                  <a:srgbClr val="1A2634"/>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2523744"/>
            <a:ext cx="6675120" cy="822960"/>
          </a:xfrm>
          <a:prstGeom prst="rect">
            <a:avLst/>
          </a:prstGeom>
          <a:noFill/>
          <a:ln/>
        </p:spPr>
        <p:txBody>
          <a:bodyPr wrap="square" lIns="0" tIns="0" rIns="0" bIns="0" rtlCol="0" anchor="ctr"/>
          <a:lstStyle/>
          <a:p>
            <a:pPr indent="0" marL="0">
              <a:lnSpc>
                <a:spcPts val="1900"/>
              </a:lnSpc>
              <a:buNone/>
            </a:pPr>
            <a:r>
              <a:rPr lang="en-US" sz="1300" dirty="0">
                <a:solidFill>
                  <a:srgbClr val="F2EDE4"/>
                </a:solidFill>
                <a:latin typeface="Calibri" pitchFamily="34" charset="0"/>
                <a:ea typeface="Calibri" pitchFamily="34" charset="-122"/>
                <a:cs typeface="Calibri" pitchFamily="34" charset="-120"/>
              </a:rPr>
              <a:t>Tell us the audience you actually want — a region, an interest, a trip stage, or a combination. We size it against the list and the site in a day.</a:t>
            </a:r>
            <a:endParaRPr lang="en-US" sz="1300" dirty="0"/>
          </a:p>
        </p:txBody>
      </p:sp>
      <p:sp>
        <p:nvSpPr>
          <p:cNvPr id="9" name="Shape 7"/>
          <p:cNvSpPr/>
          <p:nvPr/>
        </p:nvSpPr>
        <p:spPr>
          <a:xfrm>
            <a:off x="566928" y="3529584"/>
            <a:ext cx="384048" cy="384048"/>
          </a:xfrm>
          <a:prstGeom prst="ellipse">
            <a:avLst/>
          </a:prstGeom>
          <a:solidFill>
            <a:srgbClr val="E08048"/>
          </a:solidFill>
          <a:ln/>
        </p:spPr>
      </p:sp>
      <p:sp>
        <p:nvSpPr>
          <p:cNvPr id="10" name="Text 8"/>
          <p:cNvSpPr/>
          <p:nvPr/>
        </p:nvSpPr>
        <p:spPr>
          <a:xfrm>
            <a:off x="566928" y="3529584"/>
            <a:ext cx="384048" cy="384048"/>
          </a:xfrm>
          <a:prstGeom prst="rect">
            <a:avLst/>
          </a:prstGeom>
          <a:noFill/>
          <a:ln/>
        </p:spPr>
        <p:txBody>
          <a:bodyPr wrap="square" lIns="0" tIns="0" rIns="0" bIns="0" rtlCol="0" anchor="ctr"/>
          <a:lstStyle/>
          <a:p>
            <a:pPr algn="ctr" indent="0" marL="0">
              <a:buNone/>
            </a:pPr>
            <a:r>
              <a:rPr lang="en-US" sz="1300" b="1" dirty="0">
                <a:solidFill>
                  <a:srgbClr val="1A2634"/>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3493008"/>
            <a:ext cx="6675120" cy="822960"/>
          </a:xfrm>
          <a:prstGeom prst="rect">
            <a:avLst/>
          </a:prstGeom>
          <a:noFill/>
          <a:ln/>
        </p:spPr>
        <p:txBody>
          <a:bodyPr wrap="square" lIns="0" tIns="0" rIns="0" bIns="0" rtlCol="0" anchor="ctr"/>
          <a:lstStyle/>
          <a:p>
            <a:pPr indent="0" marL="0">
              <a:lnSpc>
                <a:spcPts val="1900"/>
              </a:lnSpc>
              <a:buNone/>
            </a:pPr>
            <a:r>
              <a:rPr lang="en-US" sz="1300" dirty="0">
                <a:solidFill>
                  <a:srgbClr val="F2EDE4"/>
                </a:solidFill>
                <a:latin typeface="Calibri" pitchFamily="34" charset="0"/>
                <a:ea typeface="Calibri" pitchFamily="34" charset="-122"/>
                <a:cs typeface="Calibri" pitchFamily="34" charset="-120"/>
              </a:rPr>
              <a:t>We come back with a costed plan, availability, and the traffic and viewability detail under NDA.</a:t>
            </a:r>
            <a:endParaRPr lang="en-US" sz="1300" dirty="0"/>
          </a:p>
        </p:txBody>
      </p:sp>
      <p:sp>
        <p:nvSpPr>
          <p:cNvPr id="12" name="Shape 10"/>
          <p:cNvSpPr/>
          <p:nvPr/>
        </p:nvSpPr>
        <p:spPr>
          <a:xfrm>
            <a:off x="566928" y="4498848"/>
            <a:ext cx="384048" cy="384048"/>
          </a:xfrm>
          <a:prstGeom prst="ellipse">
            <a:avLst/>
          </a:prstGeom>
          <a:solidFill>
            <a:srgbClr val="E08048"/>
          </a:solidFill>
          <a:ln/>
        </p:spPr>
      </p:sp>
      <p:sp>
        <p:nvSpPr>
          <p:cNvPr id="13" name="Text 11"/>
          <p:cNvSpPr/>
          <p:nvPr/>
        </p:nvSpPr>
        <p:spPr>
          <a:xfrm>
            <a:off x="566928" y="4498848"/>
            <a:ext cx="384048" cy="384048"/>
          </a:xfrm>
          <a:prstGeom prst="rect">
            <a:avLst/>
          </a:prstGeom>
          <a:noFill/>
          <a:ln/>
        </p:spPr>
        <p:txBody>
          <a:bodyPr wrap="square" lIns="0" tIns="0" rIns="0" bIns="0" rtlCol="0" anchor="ctr"/>
          <a:lstStyle/>
          <a:p>
            <a:pPr algn="ctr" indent="0" marL="0">
              <a:buNone/>
            </a:pPr>
            <a:r>
              <a:rPr lang="en-US" sz="1300" b="1" dirty="0">
                <a:solidFill>
                  <a:srgbClr val="1A2634"/>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88720" y="4462272"/>
            <a:ext cx="6675120" cy="822960"/>
          </a:xfrm>
          <a:prstGeom prst="rect">
            <a:avLst/>
          </a:prstGeom>
          <a:noFill/>
          <a:ln/>
        </p:spPr>
        <p:txBody>
          <a:bodyPr wrap="square" lIns="0" tIns="0" rIns="0" bIns="0" rtlCol="0" anchor="ctr"/>
          <a:lstStyle/>
          <a:p>
            <a:pPr indent="0" marL="0">
              <a:lnSpc>
                <a:spcPts val="1900"/>
              </a:lnSpc>
              <a:buNone/>
            </a:pPr>
            <a:r>
              <a:rPr lang="en-US" sz="1300" dirty="0">
                <a:solidFill>
                  <a:srgbClr val="F2EDE4"/>
                </a:solidFill>
                <a:latin typeface="Calibri" pitchFamily="34" charset="0"/>
                <a:ea typeface="Calibri" pitchFamily="34" charset="-122"/>
                <a:cs typeface="Calibri" pitchFamily="34" charset="-120"/>
              </a:rPr>
              <a:t>Test on a single issue or a two-week flight. Full delivery, click, and CTR reporting within 72 hours of the last send.</a:t>
            </a:r>
            <a:endParaRPr lang="en-US" sz="1300" dirty="0"/>
          </a:p>
        </p:txBody>
      </p:sp>
      <p:sp>
        <p:nvSpPr>
          <p:cNvPr id="15" name="Shape 13"/>
          <p:cNvSpPr/>
          <p:nvPr/>
        </p:nvSpPr>
        <p:spPr>
          <a:xfrm>
            <a:off x="7863840" y="2560320"/>
            <a:ext cx="3758184" cy="2286000"/>
          </a:xfrm>
          <a:prstGeom prst="roundRect">
            <a:avLst>
              <a:gd name="adj" fmla="val 1200"/>
            </a:avLst>
          </a:prstGeom>
          <a:solidFill>
            <a:srgbClr val="16202C"/>
          </a:solidFill>
          <a:ln/>
        </p:spPr>
      </p:sp>
      <p:sp>
        <p:nvSpPr>
          <p:cNvPr id="16" name="Text 14"/>
          <p:cNvSpPr/>
          <p:nvPr/>
        </p:nvSpPr>
        <p:spPr>
          <a:xfrm>
            <a:off x="8138160" y="2779776"/>
            <a:ext cx="3200400" cy="237744"/>
          </a:xfrm>
          <a:prstGeom prst="rect">
            <a:avLst/>
          </a:prstGeom>
          <a:noFill/>
          <a:ln/>
        </p:spPr>
        <p:txBody>
          <a:bodyPr wrap="square" lIns="0" tIns="0" rIns="0" bIns="0" rtlCol="0" anchor="ctr"/>
          <a:lstStyle/>
          <a:p>
            <a:pPr indent="0" marL="0">
              <a:buNone/>
            </a:pPr>
            <a:r>
              <a:rPr lang="en-US" sz="950" b="1" spc="200" kern="0" dirty="0">
                <a:solidFill>
                  <a:srgbClr val="D4A843"/>
                </a:solidFill>
                <a:latin typeface="Calibri" pitchFamily="34" charset="0"/>
                <a:ea typeface="Calibri" pitchFamily="34" charset="-122"/>
                <a:cs typeface="Calibri" pitchFamily="34" charset="-120"/>
              </a:rPr>
              <a:t>GET IN TOUCH</a:t>
            </a:r>
            <a:endParaRPr lang="en-US" sz="950" dirty="0"/>
          </a:p>
        </p:txBody>
      </p:sp>
      <p:sp>
        <p:nvSpPr>
          <p:cNvPr id="17" name="Text 15"/>
          <p:cNvSpPr/>
          <p:nvPr/>
        </p:nvSpPr>
        <p:spPr>
          <a:xfrm>
            <a:off x="8138160" y="3072384"/>
            <a:ext cx="3200400" cy="329184"/>
          </a:xfrm>
          <a:prstGeom prst="rect">
            <a:avLst/>
          </a:prstGeom>
          <a:noFill/>
          <a:ln/>
        </p:spPr>
        <p:txBody>
          <a:bodyPr wrap="square" lIns="0" tIns="0" rIns="0" bIns="0" rtlCol="0" anchor="ctr"/>
          <a:lstStyle/>
          <a:p>
            <a:pPr indent="0" marL="0">
              <a:buNone/>
            </a:pPr>
            <a:r>
              <a:rPr lang="en-US" sz="1900" b="1" dirty="0">
                <a:solidFill>
                  <a:srgbClr val="F2EDE4"/>
                </a:solidFill>
                <a:latin typeface="Century Schoolbook" pitchFamily="34" charset="0"/>
                <a:ea typeface="Century Schoolbook" pitchFamily="34" charset="-122"/>
                <a:cs typeface="Century Schoolbook" pitchFamily="34" charset="-120"/>
              </a:rPr>
              <a:t>Destination.com</a:t>
            </a:r>
            <a:endParaRPr lang="en-US" sz="1900" dirty="0"/>
          </a:p>
        </p:txBody>
      </p:sp>
      <p:sp>
        <p:nvSpPr>
          <p:cNvPr id="18" name="Text 16"/>
          <p:cNvSpPr/>
          <p:nvPr/>
        </p:nvSpPr>
        <p:spPr>
          <a:xfrm>
            <a:off x="8138160" y="3474720"/>
            <a:ext cx="3200400" cy="1188720"/>
          </a:xfrm>
          <a:prstGeom prst="rect">
            <a:avLst/>
          </a:prstGeom>
          <a:noFill/>
          <a:ln/>
        </p:spPr>
        <p:txBody>
          <a:bodyPr wrap="square" lIns="0" tIns="0" rIns="0" bIns="0" rtlCol="0" anchor="ctr"/>
          <a:lstStyle/>
          <a:p>
            <a:pPr indent="0" marL="0">
              <a:lnSpc>
                <a:spcPts val="1900"/>
              </a:lnSpc>
              <a:buNone/>
            </a:pPr>
            <a:r>
              <a:rPr lang="en-US" sz="1200" dirty="0">
                <a:solidFill>
                  <a:srgbClr val="9AA9B8"/>
                </a:solidFill>
                <a:latin typeface="Calibri" pitchFamily="34" charset="0"/>
                <a:ea typeface="Calibri" pitchFamily="34" charset="-122"/>
                <a:cs typeface="Calibri" pitchFamily="34" charset="-120"/>
              </a:rPr>
              <a:t>Advertising &amp; Partnerships</a:t>
            </a:r>
            <a:endParaRPr lang="en-US" sz="1200" dirty="0"/>
          </a:p>
          <a:p>
            <a:pPr indent="0" marL="0">
              <a:lnSpc>
                <a:spcPts val="1900"/>
              </a:lnSpc>
              <a:buNone/>
            </a:pPr>
            <a:r>
              <a:rPr lang="en-US" sz="1200" dirty="0">
                <a:solidFill>
                  <a:srgbClr val="9AA9B8"/>
                </a:solidFill>
                <a:latin typeface="Calibri" pitchFamily="34" charset="0"/>
                <a:ea typeface="Calibri" pitchFamily="34" charset="-122"/>
                <a:cs typeface="Calibri" pitchFamily="34" charset="-120"/>
              </a:rPr>
              <a:t>PGAM Media</a:t>
            </a:r>
            <a:endParaRPr lang="en-US" sz="1200" dirty="0"/>
          </a:p>
          <a:p>
            <a:pPr indent="0" marL="0">
              <a:lnSpc>
                <a:spcPts val="1900"/>
              </a:lnSpc>
              <a:buNone/>
            </a:pPr>
            <a:r>
              <a:rPr lang="en-US" sz="1200" b="1" u="sng" dirty="0">
                <a:solidFill>
                  <a:srgbClr val="F2EDE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info@pgammedia.com</a:t>
            </a:r>
            <a:endParaRPr lang="en-US" sz="1200" dirty="0"/>
          </a:p>
          <a:p>
            <a:pPr indent="0" marL="0">
              <a:lnSpc>
                <a:spcPts val="1900"/>
              </a:lnSpc>
              <a:buNone/>
            </a:pPr>
            <a:r>
              <a:rPr lang="en-US" sz="1200" dirty="0">
                <a:solidFill>
                  <a:srgbClr val="9AA9B8"/>
                </a:solidFill>
                <a:latin typeface="Calibri" pitchFamily="34" charset="0"/>
                <a:ea typeface="Calibri" pitchFamily="34" charset="-122"/>
                <a:cs typeface="Calibri" pitchFamily="34" charset="-120"/>
              </a:rPr>
              <a:t>pgammedia.com</a:t>
            </a:r>
            <a:endParaRPr lang="en-US" sz="1200" dirty="0"/>
          </a:p>
        </p:txBody>
      </p:sp>
      <p:sp>
        <p:nvSpPr>
          <p:cNvPr id="19" name="Text 17"/>
          <p:cNvSpPr/>
          <p:nvPr/>
        </p:nvSpPr>
        <p:spPr>
          <a:xfrm>
            <a:off x="566928" y="5486400"/>
            <a:ext cx="11055096" cy="786384"/>
          </a:xfrm>
          <a:prstGeom prst="rect">
            <a:avLst/>
          </a:prstGeom>
          <a:noFill/>
          <a:ln/>
        </p:spPr>
        <p:txBody>
          <a:bodyPr wrap="square" lIns="0" tIns="0" rIns="0" bIns="0" rtlCol="0" anchor="ctr"/>
          <a:lstStyle/>
          <a:p>
            <a:pPr indent="0" marL="0">
              <a:lnSpc>
                <a:spcPts val="1350"/>
              </a:lnSpc>
              <a:buNone/>
            </a:pPr>
            <a:r>
              <a:rPr lang="en-US" sz="950" dirty="0">
                <a:solidFill>
                  <a:srgbClr val="9AA9B8"/>
                </a:solidFill>
                <a:latin typeface="Calibri" pitchFamily="34" charset="0"/>
                <a:ea typeface="Calibri" pitchFamily="34" charset="-122"/>
                <a:cs typeface="Calibri" pitchFamily="34" charset="-120"/>
              </a:rPr>
              <a:t>Newsletter subscriber counts, open and click rates, and all segment splits in this document are internal projections for planning purposes and are not independently audited. Site traffic, viewability, and geography detail are shared on request under NDA. Rate card pricing is indicative and excludes agency commission, volume, and annual commitment terms.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Destination.com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Destination.com Media Kit</dc:title>
  <dc:subject>PptxGenJS Presentation</dc:subject>
  <dc:creator>PGAM Media</dc:creator>
  <cp:lastModifiedBy>PGAM Media</cp:lastModifiedBy>
  <cp:revision>1</cp:revision>
  <dcterms:created xsi:type="dcterms:W3CDTF">2026-08-25T21:55:19Z</dcterms:created>
  <dcterms:modified xsi:type="dcterms:W3CDTF">2026-08-25T21:55:19Z</dcterms:modified>
</cp:coreProperties>
</file>