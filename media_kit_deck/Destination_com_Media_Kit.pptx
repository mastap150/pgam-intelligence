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0E2F42"/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0"/>
            <a:ext cx="73152" cy="685800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travelers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they book.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is a premium travel media and intent-driven audience platform. Our readers arrive with a trip in mind — and a decision still open.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&amp; partnerships  ·  Q4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05495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05495" y="1737360"/>
            <a:ext cx="3474720" cy="896112"/>
          </a:xfrm>
          <a:prstGeom prst="rect">
            <a:avLst/>
          </a:prstGeom>
          <a:solidFill>
            <a:srgbClr val="081F2E"/>
          </a:solidFill>
          <a:ln w="9525">
            <a:solidFill>
              <a:srgbClr val="0E4D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05495" y="1737360"/>
            <a:ext cx="45720" cy="89611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11" name="Text 9"/>
          <p:cNvSpPr/>
          <p:nvPr/>
        </p:nvSpPr>
        <p:spPr>
          <a:xfrm>
            <a:off x="8488375" y="181965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134295" y="181965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subscribers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05495" y="2788920"/>
            <a:ext cx="3474720" cy="896112"/>
          </a:xfrm>
          <a:prstGeom prst="rect">
            <a:avLst/>
          </a:prstGeom>
          <a:solidFill>
            <a:srgbClr val="081F2E"/>
          </a:solidFill>
          <a:ln w="9525">
            <a:solidFill>
              <a:srgbClr val="0E4D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5495" y="2788920"/>
            <a:ext cx="45720" cy="89611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15" name="Text 13"/>
          <p:cNvSpPr/>
          <p:nvPr/>
        </p:nvSpPr>
        <p:spPr>
          <a:xfrm>
            <a:off x="8488375" y="287121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134295" y="287121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05495" y="3840480"/>
            <a:ext cx="3474720" cy="896112"/>
          </a:xfrm>
          <a:prstGeom prst="rect">
            <a:avLst/>
          </a:prstGeom>
          <a:solidFill>
            <a:srgbClr val="081F2E"/>
          </a:solidFill>
          <a:ln w="9525">
            <a:solidFill>
              <a:srgbClr val="0E4D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5495" y="3840480"/>
            <a:ext cx="45720" cy="89611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19" name="Text 17"/>
          <p:cNvSpPr/>
          <p:nvPr/>
        </p:nvSpPr>
        <p:spPr>
          <a:xfrm>
            <a:off x="8488375" y="392277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134295" y="392277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travel intent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05495" y="4892040"/>
            <a:ext cx="3474720" cy="896112"/>
          </a:xfrm>
          <a:prstGeom prst="rect">
            <a:avLst/>
          </a:prstGeom>
          <a:solidFill>
            <a:srgbClr val="081F2E"/>
          </a:solidFill>
          <a:ln w="9525">
            <a:solidFill>
              <a:srgbClr val="0E4D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5495" y="4892040"/>
            <a:ext cx="45720" cy="89611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3" name="Text 21"/>
          <p:cNvSpPr/>
          <p:nvPr/>
        </p:nvSpPr>
        <p:spPr>
          <a:xfrm>
            <a:off x="8488375" y="497433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134295" y="497433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stages covered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0E4D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advertising's hardest problem is timing.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media reaches people who might travel someday. We reach people planning a trip right now.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5935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3593592" cy="5029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212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2487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reach wastes budget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13232" y="3246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channels sell impressions to people with no trip on the calendar. You pay for scale and inherit the waste.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965960"/>
            <a:ext cx="35935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965960"/>
            <a:ext cx="359359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2212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53712" y="2487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is observable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553712" y="3246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tell us where they're going and what stage they're at — through what they open, click, read and search.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1965960"/>
            <a:ext cx="35935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965960"/>
            <a:ext cx="3593592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21" name="Text 19"/>
          <p:cNvSpPr/>
          <p:nvPr/>
        </p:nvSpPr>
        <p:spPr>
          <a:xfrm>
            <a:off x="8394192" y="2212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94192" y="2487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Destination.com sits in the gap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394192" y="3246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owned newsletter, an owned site, and first-party segments that let you buy the moment instead of the demographic.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11277295" cy="1508760"/>
          </a:xfrm>
          <a:prstGeom prst="rect">
            <a:avLst/>
          </a:prstGeom>
          <a:solidFill>
            <a:srgbClr val="0E2F4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617720"/>
            <a:ext cx="64008" cy="150876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006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 for your media plan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impression on Destination.com is served to someone who chose to read about travel today. You are not buying an audience that skews travel — you are buying the travel decision itself, at the exact stage where your brand can still change the outcome.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Destination.com by the numbers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permission-based travel audience — built for engagement, not for volume.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77063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277063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21408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8368" y="2980944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subscribers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32918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permission-based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1920240"/>
            <a:ext cx="277063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920240"/>
            <a:ext cx="277063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2121408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557016" y="2980944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open rate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57016" y="32918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publisher norms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4496" y="1920240"/>
            <a:ext cx="277063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920240"/>
            <a:ext cx="277063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6455664" y="2121408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55664" y="2980944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click rate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55664" y="32918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act, not just scroll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53144" y="1920240"/>
            <a:ext cx="277063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53144" y="1920240"/>
            <a:ext cx="277063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6" name="Text 24"/>
          <p:cNvSpPr/>
          <p:nvPr/>
        </p:nvSpPr>
        <p:spPr>
          <a:xfrm>
            <a:off x="9354312" y="2121408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180K+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354312" y="2980944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site readers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54312" y="32918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Destinations, guides, deals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2167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21792" y="4517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per week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52344" y="4023360"/>
            <a:ext cx="2167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+8% MoM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2916936" y="4517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growth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47488" y="4023360"/>
            <a:ext cx="2167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5212080" y="4517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US-based readers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42632" y="4023360"/>
            <a:ext cx="2167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07224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7507224" y="4517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categories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37776" y="4023360"/>
            <a:ext cx="2167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02368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1st-party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9802368" y="4517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fully owned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5166360"/>
            <a:ext cx="11277295" cy="960120"/>
          </a:xfrm>
          <a:prstGeom prst="rect">
            <a:avLst/>
          </a:prstGeom>
          <a:solidFill>
            <a:srgbClr val="FDEBCB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32180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subscribers didn't stumble in. They asked for travel inspiration, deals and planning help — which is why they open, click, and convert at rates a general-interest list can't reach.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reads Destination.com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travelers actively researching where to go, where to stay, and how to pay for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359359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Actively planning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94944" y="263347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destination guides, comparing itineraries, and shortlisting trips — usually 30 to 120 days out from booking.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92024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920240"/>
            <a:ext cx="3593592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15" name="Text 13"/>
          <p:cNvSpPr/>
          <p:nvPr/>
        </p:nvSpPr>
        <p:spPr>
          <a:xfrm>
            <a:off x="4535424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Decision-stage, not idle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35424" y="263347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through to hotels, flights, tours and deals. They treat our newsletter as a planning tool.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92024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920240"/>
            <a:ext cx="3593592" cy="5029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Cross-category spenders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75904" y="263347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trip is a hotel, a flight, a card swipe, insurance, luggage, transfers, tickets and meals.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69080"/>
            <a:ext cx="3593592" cy="5029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4343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Deal-aware, not deal-only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94944" y="47823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respond to value and price drops, but they buy on trust, editorial credibility and fit.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406908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4069080"/>
            <a:ext cx="359359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4343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travelers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535424" y="47823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trips a year across beach, city, family and long-haul — so the relationship compounds.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06908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4069080"/>
            <a:ext cx="3593592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343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 readers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375904" y="47823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on phones, in-market, often mid-research — the moment where recall becomes a click.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FULL-JOURNEY REACH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stages. One audience. Every one of them buyable.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isn't a single decision — it's a sequence. We can reach the same reader at each step.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10820095" cy="45720"/>
          </a:xfrm>
          <a:prstGeom prst="rect">
            <a:avLst/>
          </a:prstGeom>
          <a:solidFill>
            <a:srgbClr val="E0DAD1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240280"/>
            <a:ext cx="548640" cy="548640"/>
          </a:xfrm>
          <a:prstGeom prst="ellipse">
            <a:avLst/>
          </a:prstGeom>
          <a:solidFill>
            <a:srgbClr val="1B6CA8"/>
          </a:solidFill>
          <a:ln w="25400">
            <a:solidFill>
              <a:srgbClr val="FAF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16712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should we go?"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9144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159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features, listicles, photo-led discovery, trending-now content.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75304" y="2240280"/>
            <a:ext cx="548640" cy="548640"/>
          </a:xfrm>
          <a:prstGeom prst="ellipse">
            <a:avLst/>
          </a:prstGeom>
          <a:solidFill>
            <a:srgbClr val="0D9B76"/>
          </a:solidFill>
          <a:ln w="25400">
            <a:solidFill>
              <a:srgbClr val="FAF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52344" y="3017520"/>
            <a:ext cx="216712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35224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935224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trip right for us?"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35224" y="4206240"/>
            <a:ext cx="9144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43159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comparisons, best-time-to-visit, budget breakdowns, safety and visas.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70448" y="2240280"/>
            <a:ext cx="548640" cy="548640"/>
          </a:xfrm>
          <a:prstGeom prst="ellipse">
            <a:avLst/>
          </a:prstGeom>
          <a:solidFill>
            <a:srgbClr val="C4703E"/>
          </a:solidFill>
          <a:ln w="25400">
            <a:solidFill>
              <a:srgbClr val="FAF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47488" y="3017520"/>
            <a:ext cx="216712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30368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230368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we make it work?"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230368" y="4206240"/>
            <a:ext cx="9144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43159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Itineraries, packing, points &amp; miles, insurance, logistics and timing.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65592" y="2240280"/>
            <a:ext cx="548640" cy="548640"/>
          </a:xfrm>
          <a:prstGeom prst="ellipse">
            <a:avLst/>
          </a:prstGeom>
          <a:solidFill>
            <a:srgbClr val="F4A124"/>
          </a:solidFill>
          <a:ln w="25400">
            <a:solidFill>
              <a:srgbClr val="FAF7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42632" y="3017520"/>
            <a:ext cx="216712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525512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525512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 I book it?"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525512" y="4206240"/>
            <a:ext cx="9144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25512" y="43159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features, deep links, hotel and flight placements, limited-time offers.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460736" y="2240280"/>
            <a:ext cx="548640" cy="548640"/>
          </a:xfrm>
          <a:prstGeom prst="ellipse">
            <a:avLst/>
          </a:prstGeom>
          <a:solidFill>
            <a:srgbClr val="1B6CA8"/>
          </a:solidFill>
          <a:ln w="25400">
            <a:solidFill>
              <a:srgbClr val="FAF7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6073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37776" y="3017520"/>
            <a:ext cx="2167128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820656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Post-trip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820656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next?"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820656" y="4206240"/>
            <a:ext cx="9144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20656" y="4315968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Loyalty, reviews, gear upgrades, next-destination nurture and re-engagement.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one stage to solve a specific problem — or sequence all five and own the trip from daydream to departure.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FLAGSHIP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Newsletter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opt-in travel intenders, delivered straight to the inbox — the highest-attention environment we own, and the one advertisers ask for first.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0E4D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NEWSLETTER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inbox outperforms everything else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algorithm between you and the reader. No feed to scroll past. One send, one audience, full attention.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6766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9144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08483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Owned, not rented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the list, the data and the delivery. No platform can throttle your reach or change the rules mid-flight.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6766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914400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13639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Undivided attention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" y="344728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is a single-column, one-thing-at-a-time environment. Your placement isn't competing with nine other units.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6766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69080"/>
            <a:ext cx="54864" cy="914400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18795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context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" y="449884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subscribed for our recommendations. A brand featured alongside our editorial inherits that credibility.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6766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120640"/>
            <a:ext cx="54864" cy="91440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23951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Measurable, fast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555040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Opens, clicks, click-through destinations and post-click behavior — reported per placement, per send.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98080" y="1965960"/>
            <a:ext cx="4233672" cy="4160520"/>
          </a:xfrm>
          <a:prstGeom prst="rect">
            <a:avLst/>
          </a:prstGeom>
          <a:solidFill>
            <a:srgbClr val="0E2F42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0" y="1965960"/>
            <a:ext cx="4233672" cy="64008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26517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open rate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0" y="285292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772400" y="3310128"/>
            <a:ext cx="3703320" cy="0"/>
          </a:xfrm>
          <a:prstGeom prst="line">
            <a:avLst/>
          </a:prstGeom>
          <a:noFill/>
          <a:ln w="9525">
            <a:solidFill>
              <a:srgbClr val="0E4D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34290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click-through rate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0" y="363016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7772400" y="4087368"/>
            <a:ext cx="3703320" cy="0"/>
          </a:xfrm>
          <a:prstGeom prst="line">
            <a:avLst/>
          </a:prstGeom>
          <a:noFill/>
          <a:ln w="9525">
            <a:solidFill>
              <a:srgbClr val="0E4D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62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per week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0" y="440740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7772400" y="4864608"/>
            <a:ext cx="3703320" cy="0"/>
          </a:xfrm>
          <a:prstGeom prst="line">
            <a:avLst/>
          </a:prstGeom>
          <a:noFill/>
          <a:ln w="9525">
            <a:solidFill>
              <a:srgbClr val="0E4D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49834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growth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0" y="518464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+8% MoM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772400" y="5715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per placement, per send.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SPONSORSHIPS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ways to show up in the inbox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full ownership of a send to a native mention inside the editorial our readers open for.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359359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396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SOV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3957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Send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94944" y="281635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email is yours. Your creative, your message, your CTA — sent to the full list or a chosen segment.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92024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920240"/>
            <a:ext cx="3593592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16" name="Text 14"/>
          <p:cNvSpPr/>
          <p:nvPr/>
        </p:nvSpPr>
        <p:spPr>
          <a:xfrm>
            <a:off x="4535424" y="21396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MID SLOT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35424" y="23957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Sponsored Placement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535424" y="281635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banner-and-copy unit in the flow of the newsletter, above or beside our lead story.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192024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920240"/>
            <a:ext cx="3593592" cy="5029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1396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VOICE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75904" y="23957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Content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375904" y="281635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our voice, clearly labeled, and built to be read — not skipped. Highest engagement of any unit.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69080"/>
            <a:ext cx="3593592" cy="5029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42885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BOARDS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4944" y="45445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 Spotlight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94944" y="496519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editorial feature on your destination: what to do, when to go, where to stay, why now.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97680" y="406908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4069080"/>
            <a:ext cx="3593592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1" name="Text 29"/>
          <p:cNvSpPr/>
          <p:nvPr/>
        </p:nvSpPr>
        <p:spPr>
          <a:xfrm>
            <a:off x="4535424" y="42885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CONVERSION-LED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35424" y="45445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Deal Feature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4535424" y="496519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offer in our deals module, framed as a genuine find. Built for click-through and booking.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38160" y="4069080"/>
            <a:ext cx="35935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4069080"/>
            <a:ext cx="3593592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36" name="Text 34"/>
          <p:cNvSpPr/>
          <p:nvPr/>
        </p:nvSpPr>
        <p:spPr>
          <a:xfrm>
            <a:off x="8375904" y="42885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REACH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75904" y="45445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Segmented Campaign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8375904" y="496519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only to the subset that matters — beach intenders, luxury travelers, a specific origin market.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the list. Buy only the travelers you want.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first-party data lets you narrow by who they are, where they're going, and how close they are to booking.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88336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2688336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487168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34056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origin market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" y="3191256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travel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" y="3648456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travel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" y="4105656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travel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6656" y="4562856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&amp; couples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" y="5020056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892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frequent travelers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28416" y="1920240"/>
            <a:ext cx="2688336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28416" y="1920240"/>
            <a:ext cx="2688336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27" name="Text 25"/>
          <p:cNvSpPr/>
          <p:nvPr/>
        </p:nvSpPr>
        <p:spPr>
          <a:xfrm>
            <a:off x="3529584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THEY'RE GOING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29584" y="2487168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47872" y="2734056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0" name="Text 28"/>
          <p:cNvSpPr/>
          <p:nvPr/>
        </p:nvSpPr>
        <p:spPr>
          <a:xfrm>
            <a:off x="3739896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interest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547872" y="3191256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2" name="Text 30"/>
          <p:cNvSpPr/>
          <p:nvPr/>
        </p:nvSpPr>
        <p:spPr>
          <a:xfrm>
            <a:off x="3739896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&amp; island trips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547872" y="3648456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4" name="Text 32"/>
          <p:cNvSpPr/>
          <p:nvPr/>
        </p:nvSpPr>
        <p:spPr>
          <a:xfrm>
            <a:off x="3739896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breaks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47872" y="4105656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6" name="Text 34"/>
          <p:cNvSpPr/>
          <p:nvPr/>
        </p:nvSpPr>
        <p:spPr>
          <a:xfrm>
            <a:off x="3739896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547872" y="4562856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8" name="Text 36"/>
          <p:cNvSpPr/>
          <p:nvPr/>
        </p:nvSpPr>
        <p:spPr>
          <a:xfrm>
            <a:off x="373989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&amp; outdoors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547872" y="5020056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40" name="Text 38"/>
          <p:cNvSpPr/>
          <p:nvPr/>
        </p:nvSpPr>
        <p:spPr>
          <a:xfrm>
            <a:off x="3739896" y="4892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vs. domestic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99632" y="1920240"/>
            <a:ext cx="2688336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1920240"/>
            <a:ext cx="2688336" cy="5029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BUYING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2487168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9088" y="2734056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46" name="Text 44"/>
          <p:cNvSpPr/>
          <p:nvPr/>
        </p:nvSpPr>
        <p:spPr>
          <a:xfrm>
            <a:off x="6611112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resorts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19088" y="3191256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48" name="Text 46"/>
          <p:cNvSpPr/>
          <p:nvPr/>
        </p:nvSpPr>
        <p:spPr>
          <a:xfrm>
            <a:off x="6611112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19088" y="3648456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0" name="Text 48"/>
          <p:cNvSpPr/>
          <p:nvPr/>
        </p:nvSpPr>
        <p:spPr>
          <a:xfrm>
            <a:off x="6611112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&amp; tours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19088" y="4105656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2" name="Text 50"/>
          <p:cNvSpPr/>
          <p:nvPr/>
        </p:nvSpPr>
        <p:spPr>
          <a:xfrm>
            <a:off x="6611112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&amp; transfers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419088" y="4562856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4" name="Text 52"/>
          <p:cNvSpPr/>
          <p:nvPr/>
        </p:nvSpPr>
        <p:spPr>
          <a:xfrm>
            <a:off x="6611112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protection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419088" y="5020056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6" name="Text 54"/>
          <p:cNvSpPr/>
          <p:nvPr/>
        </p:nvSpPr>
        <p:spPr>
          <a:xfrm>
            <a:off x="6611112" y="4892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miles &amp; cards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9070848" y="1920240"/>
            <a:ext cx="2688336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070848" y="1920240"/>
            <a:ext cx="2688336" cy="5029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59" name="Text 57"/>
          <p:cNvSpPr/>
          <p:nvPr/>
        </p:nvSpPr>
        <p:spPr>
          <a:xfrm>
            <a:off x="9272016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THEY'RE BUYING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272016" y="2487168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90304" y="2734056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62" name="Text 60"/>
          <p:cNvSpPr/>
          <p:nvPr/>
        </p:nvSpPr>
        <p:spPr>
          <a:xfrm>
            <a:off x="9482328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intent stage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9290304" y="3191256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64" name="Text 62"/>
          <p:cNvSpPr/>
          <p:nvPr/>
        </p:nvSpPr>
        <p:spPr>
          <a:xfrm>
            <a:off x="9482328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moments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9290304" y="3648456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66" name="Text 64"/>
          <p:cNvSpPr/>
          <p:nvPr/>
        </p:nvSpPr>
        <p:spPr>
          <a:xfrm>
            <a:off x="9482328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Booking-window timing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9290304" y="4105656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68" name="Text 66"/>
          <p:cNvSpPr/>
          <p:nvPr/>
        </p:nvSpPr>
        <p:spPr>
          <a:xfrm>
            <a:off x="9482328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responders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9290304" y="4562856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70" name="Text 68"/>
          <p:cNvSpPr/>
          <p:nvPr/>
        </p:nvSpPr>
        <p:spPr>
          <a:xfrm>
            <a:off x="9482328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clickers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9290304" y="5020056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72" name="Text 70"/>
          <p:cNvSpPr/>
          <p:nvPr/>
        </p:nvSpPr>
        <p:spPr>
          <a:xfrm>
            <a:off x="9482328" y="4892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audiences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457200" y="5779008"/>
            <a:ext cx="11277295" cy="502920"/>
          </a:xfrm>
          <a:prstGeom prst="rect">
            <a:avLst/>
          </a:prstGeom>
          <a:solidFill>
            <a:srgbClr val="0E2F42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" y="577900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segments freely — e.g. "US families researching beach trips in the next 60 days" — and we'll build the send around 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MOMENTS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the moment demand is already spiking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demand is seasonal and predictable. These are the windows where intent spikes and creative works hardest.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1277295" cy="896112"/>
          </a:xfrm>
          <a:prstGeom prst="rect">
            <a:avLst/>
          </a:prstGeom>
          <a:solidFill>
            <a:srgbClr val="F0EBE3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822960" cy="89611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21031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 Escape &amp; New Year Planning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75120" y="21305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Sun-seeking, ski, spring break booking, resolution trips. Peak research volume of the year.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11277295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90088"/>
            <a:ext cx="822960" cy="89611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90088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31272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Booking Season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493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JUN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0" y="3154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Europe, beach and family summer trips get locked in. Highest hotel and flight conversion window.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11277295" cy="896112"/>
          </a:xfrm>
          <a:prstGeom prst="rect">
            <a:avLst/>
          </a:prstGeom>
          <a:solidFill>
            <a:srgbClr val="F0EBE3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14216"/>
            <a:ext cx="822960" cy="89611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14216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08760" y="41513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Travel &amp; Fall Shoulder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08760" y="4517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SEP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417880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In-destination spend, experiences, and early shoulder-season and fall foliage planning.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038344"/>
            <a:ext cx="11277295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038344"/>
            <a:ext cx="822960" cy="89611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5038344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08760" y="51755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Holiday Travel &amp; Year-Ahead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508760" y="5541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DEC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520293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flights, gifting, luggage and gear, plus next-year trip dreaming and deal hunting.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packages are sold ahead of the window — the best inventory goes 8 to 12 weeks before the spike.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Destination.com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destination pages, deals and points coverage — an always-on environment where readers research the trip they're about to take.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0E4D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SPONSORSHIPS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pages travelers actually research 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Editorial, placement and category ownership across Destination.com — sold as brand-safe, clearly labeled partnerships.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88336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2688336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762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Sponsored Articles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feature produced by our editorial studio, optimized for search and built to live on the site long after the flight ends.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28416" y="1920240"/>
            <a:ext cx="2688336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28416" y="1920240"/>
            <a:ext cx="2688336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15" name="Text 13"/>
          <p:cNvSpPr/>
          <p:nvPr/>
        </p:nvSpPr>
        <p:spPr>
          <a:xfrm>
            <a:off x="3529584" y="21762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Homepage Placements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9584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and featured-module positions on the highest-traffic page we own. Ideal for launches and seasonal pushes.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1920240"/>
            <a:ext cx="2688336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920240"/>
            <a:ext cx="2688336" cy="5029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762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Sponsorships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 vertical outright — Beaches, City Breaks, Points &amp; Miles, Family Travel — with presence on every page in 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70848" y="1920240"/>
            <a:ext cx="2688336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70848" y="1920240"/>
            <a:ext cx="2688336" cy="5029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21762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 Advertising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72016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IAB units across run-of-site or targeted category inventory, with viewability and brand-safety controls.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2688336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41648"/>
            <a:ext cx="2688336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Placements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" y="4956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In-feed and in-article recommendation units that match our editorial design and read as part of the page.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28416" y="4041648"/>
            <a:ext cx="2688336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28416" y="4041648"/>
            <a:ext cx="2688336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31" name="Text 29"/>
          <p:cNvSpPr/>
          <p:nvPr/>
        </p:nvSpPr>
        <p:spPr>
          <a:xfrm>
            <a:off x="3529584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Affiliate &amp; Deep-Link Integration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29584" y="4956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 straight to your booking flow, room type or offer page — placed where the reader is already comparing.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9632" y="4041648"/>
            <a:ext cx="2688336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9632" y="4041648"/>
            <a:ext cx="2688336" cy="5029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Content Hubs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0" y="4956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destination within Destination.com: multiple articles, imagery, itineraries and offers under one URL.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70848" y="4041648"/>
            <a:ext cx="2688336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70848" y="4041648"/>
            <a:ext cx="2688336" cy="5029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39" name="Text 37"/>
          <p:cNvSpPr/>
          <p:nvPr/>
        </p:nvSpPr>
        <p:spPr>
          <a:xfrm>
            <a:off x="9272016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Newsletter-to-Site Retargeting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272016" y="4956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Re-serve your message on-site to readers who clicked your newsletter placement. The full-funnel close.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product does which job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matching your objective to the right placement across the journey.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1277295" cy="658368"/>
          </a:xfrm>
          <a:prstGeom prst="rect">
            <a:avLst/>
          </a:prstGeom>
          <a:solidFill>
            <a:srgbClr val="0E2F4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57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24912" y="20574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MINDSET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85232" y="20574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PLACEMENTS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491472" y="20574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15768"/>
            <a:ext cx="11277295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715768"/>
            <a:ext cx="45720" cy="6583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715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24912" y="27157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go?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85232" y="27157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Spotlight · Homepage Hero · Native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91472" y="27157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&amp; consideration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11277295" cy="658368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374136"/>
            <a:ext cx="45720" cy="658368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3741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24912" y="337413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trip right for us?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337413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Article · Category Sponsorship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91472" y="337413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&amp; shortlisting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32504"/>
            <a:ext cx="11277295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032504"/>
            <a:ext cx="45720" cy="65836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0325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24912" y="403250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make it work?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85232" y="403250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Native · Custom Content Hub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91472" y="403250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&amp; product education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690872"/>
            <a:ext cx="11277295" cy="658368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690872"/>
            <a:ext cx="45720" cy="658368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69087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724912" y="46908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I book it?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469087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Deal Feature · Deep Links · Dedicated Send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91472" y="469087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bookings, revenue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349240"/>
            <a:ext cx="11277295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5349240"/>
            <a:ext cx="45720" cy="6583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53492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Post-trip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724912" y="5349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85232" y="53492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Campaign · Retargeting · Display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491472" y="53492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repeat purchase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partners start with one stage and expand. The strongest results come from sequencing two or more.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WORK WITH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brands that need travelers, not eyeballs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revenue depends on someone deciding to take a trip, this audience is your buying window.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64008" cy="9144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Hotels &amp; Resorts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28416" y="196596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416" y="1965960"/>
            <a:ext cx="64008" cy="914400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Airlines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9632" y="196596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965960"/>
            <a:ext cx="64008" cy="914400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OTAs &amp; Booking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70848" y="196596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0848" y="1965960"/>
            <a:ext cx="64008" cy="91440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0" name="Text 18"/>
          <p:cNvSpPr/>
          <p:nvPr/>
        </p:nvSpPr>
        <p:spPr>
          <a:xfrm>
            <a:off x="9345168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Tourism Boards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17520"/>
            <a:ext cx="64008" cy="9144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Cards &amp; Points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328416" y="301752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28416" y="3017520"/>
            <a:ext cx="64008" cy="914400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26" name="Text 24"/>
          <p:cNvSpPr/>
          <p:nvPr/>
        </p:nvSpPr>
        <p:spPr>
          <a:xfrm>
            <a:off x="3602736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Cruise Lines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99632" y="301752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3017520"/>
            <a:ext cx="64008" cy="914400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Insurance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070848" y="301752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70848" y="3017520"/>
            <a:ext cx="64008" cy="91440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32" name="Text 30"/>
          <p:cNvSpPr/>
          <p:nvPr/>
        </p:nvSpPr>
        <p:spPr>
          <a:xfrm>
            <a:off x="9345168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Luggage &amp; Gear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069080"/>
            <a:ext cx="64008" cy="9144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069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Attractions &amp; Tickets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328416" y="406908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28416" y="4069080"/>
            <a:ext cx="64008" cy="914400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38" name="Text 36"/>
          <p:cNvSpPr/>
          <p:nvPr/>
        </p:nvSpPr>
        <p:spPr>
          <a:xfrm>
            <a:off x="3602736" y="4069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Rental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199632" y="406908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9632" y="4069080"/>
            <a:ext cx="64008" cy="914400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41" name="Text 39"/>
          <p:cNvSpPr/>
          <p:nvPr/>
        </p:nvSpPr>
        <p:spPr>
          <a:xfrm>
            <a:off x="6473952" y="4069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Restaurants &amp; Dining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070848" y="4069080"/>
            <a:ext cx="26883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70848" y="4069080"/>
            <a:ext cx="64008" cy="91440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44" name="Text 42"/>
          <p:cNvSpPr/>
          <p:nvPr/>
        </p:nvSpPr>
        <p:spPr>
          <a:xfrm>
            <a:off x="9345168" y="4069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Experiences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57200" y="5349240"/>
            <a:ext cx="11277295" cy="822960"/>
          </a:xfrm>
          <a:prstGeom prst="rect">
            <a:avLst/>
          </a:prstGeom>
          <a:solidFill>
            <a:srgbClr val="FDEBCB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trip creates a dozen purchases. Reaching the traveler once, early, puts your brand in front of every decision that follows it.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PACKAGES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bundles — every package is built to the brief, and everything below can be mixed.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88336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2688336" cy="6400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404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2596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8368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audience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273552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502152"/>
            <a:ext cx="73152" cy="7315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Sponsored Placement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" y="3922776"/>
            <a:ext cx="73152" cy="7315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" y="3803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Travel Deal Feature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" y="4343400"/>
            <a:ext cx="73152" cy="7315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224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Sponsored Article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" y="4764024"/>
            <a:ext cx="73152" cy="73152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" y="4645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28416" y="1920240"/>
            <a:ext cx="2688336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28416" y="1920240"/>
            <a:ext cx="2688336" cy="64008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26" name="Text 24"/>
          <p:cNvSpPr/>
          <p:nvPr/>
        </p:nvSpPr>
        <p:spPr>
          <a:xfrm>
            <a:off x="3529584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9584" y="2404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29584" y="2596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$12,500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529584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season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9584" y="3273552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47872" y="3502152"/>
            <a:ext cx="73152" cy="73152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2" name="Text 30"/>
          <p:cNvSpPr/>
          <p:nvPr/>
        </p:nvSpPr>
        <p:spPr>
          <a:xfrm>
            <a:off x="3730752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Dedicated Send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47872" y="3922776"/>
            <a:ext cx="73152" cy="73152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4" name="Text 32"/>
          <p:cNvSpPr/>
          <p:nvPr/>
        </p:nvSpPr>
        <p:spPr>
          <a:xfrm>
            <a:off x="3730752" y="3803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Newsletter Native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47872" y="4343400"/>
            <a:ext cx="73152" cy="73152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6" name="Text 34"/>
          <p:cNvSpPr/>
          <p:nvPr/>
        </p:nvSpPr>
        <p:spPr>
          <a:xfrm>
            <a:off x="3730752" y="4224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Homepage Placement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47872" y="4764024"/>
            <a:ext cx="73152" cy="73152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8" name="Text 36"/>
          <p:cNvSpPr/>
          <p:nvPr/>
        </p:nvSpPr>
        <p:spPr>
          <a:xfrm>
            <a:off x="3730752" y="4645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Sponsored Articles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547872" y="5184648"/>
            <a:ext cx="73152" cy="73152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40" name="Text 38"/>
          <p:cNvSpPr/>
          <p:nvPr/>
        </p:nvSpPr>
        <p:spPr>
          <a:xfrm>
            <a:off x="3730752" y="50657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targeting included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9632" y="1920240"/>
            <a:ext cx="2688336" cy="3977640"/>
          </a:xfrm>
          <a:prstGeom prst="rect">
            <a:avLst/>
          </a:prstGeom>
          <a:solidFill>
            <a:srgbClr val="0E2F42"/>
          </a:solidFill>
          <a:ln w="12700">
            <a:solidFill>
              <a:srgbClr val="F4A12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1920240"/>
            <a:ext cx="2688336" cy="6400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2404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0" y="2596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$28,000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category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0" y="3273552"/>
            <a:ext cx="2286000" cy="0"/>
          </a:xfrm>
          <a:prstGeom prst="line">
            <a:avLst/>
          </a:prstGeom>
          <a:noFill/>
          <a:ln w="12700">
            <a:solidFill>
              <a:srgbClr val="0E4D6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9088" y="3502152"/>
            <a:ext cx="73152" cy="73152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49" name="Text 47"/>
          <p:cNvSpPr/>
          <p:nvPr/>
        </p:nvSpPr>
        <p:spPr>
          <a:xfrm>
            <a:off x="6601968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Dedicated Sends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19088" y="3922776"/>
            <a:ext cx="73152" cy="73152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1" name="Text 49"/>
          <p:cNvSpPr/>
          <p:nvPr/>
        </p:nvSpPr>
        <p:spPr>
          <a:xfrm>
            <a:off x="6601968" y="3803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Spotlight series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19088" y="4343400"/>
            <a:ext cx="73152" cy="73152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3" name="Text 51"/>
          <p:cNvSpPr/>
          <p:nvPr/>
        </p:nvSpPr>
        <p:spPr>
          <a:xfrm>
            <a:off x="6601968" y="4224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Sponsorship (1 month)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19088" y="4764024"/>
            <a:ext cx="73152" cy="73152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5" name="Text 53"/>
          <p:cNvSpPr/>
          <p:nvPr/>
        </p:nvSpPr>
        <p:spPr>
          <a:xfrm>
            <a:off x="6601968" y="4645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Content Hub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419088" y="5184648"/>
            <a:ext cx="73152" cy="73152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7" name="Text 55"/>
          <p:cNvSpPr/>
          <p:nvPr/>
        </p:nvSpPr>
        <p:spPr>
          <a:xfrm>
            <a:off x="6601968" y="50657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Newsletter-to-site retargeting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419088" y="5605272"/>
            <a:ext cx="73152" cy="73152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59" name="Text 57"/>
          <p:cNvSpPr/>
          <p:nvPr/>
        </p:nvSpPr>
        <p:spPr>
          <a:xfrm>
            <a:off x="6601968" y="5486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team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070848" y="1920240"/>
            <a:ext cx="2688336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070848" y="1920240"/>
            <a:ext cx="2688336" cy="64008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62" name="Text 60"/>
          <p:cNvSpPr/>
          <p:nvPr/>
        </p:nvSpPr>
        <p:spPr>
          <a:xfrm>
            <a:off x="9272016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272016" y="2404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272016" y="2596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$8,000</a:t>
            </a:r>
            <a:pPr indent="0" marL="0">
              <a:buNone/>
            </a:pPr>
            <a:r>
              <a:rPr lang="en-US" sz="13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9272016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market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72016" y="3273552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90304" y="3502152"/>
            <a:ext cx="73152" cy="73152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68" name="Text 66"/>
          <p:cNvSpPr/>
          <p:nvPr/>
        </p:nvSpPr>
        <p:spPr>
          <a:xfrm>
            <a:off x="9473184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native placements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9290304" y="3922776"/>
            <a:ext cx="73152" cy="73152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70" name="Text 68"/>
          <p:cNvSpPr/>
          <p:nvPr/>
        </p:nvSpPr>
        <p:spPr>
          <a:xfrm>
            <a:off x="9473184" y="3803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Run-of-site display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290304" y="4343400"/>
            <a:ext cx="73152" cy="73152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72" name="Text 70"/>
          <p:cNvSpPr/>
          <p:nvPr/>
        </p:nvSpPr>
        <p:spPr>
          <a:xfrm>
            <a:off x="9473184" y="42245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integration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9290304" y="4764024"/>
            <a:ext cx="73152" cy="73152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74" name="Text 72"/>
          <p:cNvSpPr/>
          <p:nvPr/>
        </p:nvSpPr>
        <p:spPr>
          <a:xfrm>
            <a:off x="9473184" y="4645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content refresh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290304" y="5184648"/>
            <a:ext cx="73152" cy="73152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76" name="Text 74"/>
          <p:cNvSpPr/>
          <p:nvPr/>
        </p:nvSpPr>
        <p:spPr>
          <a:xfrm>
            <a:off x="9473184" y="50657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minimum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pricing, net. Final rates depend on segment size, flight dates and production scope.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Indicative rates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rates for planning purposes. Segmented and multi-flight buys are quoted on request.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669280" cy="38404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2194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21024" y="2194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4064" y="2194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5786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21024" y="25786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84064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5669280" cy="384048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9626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Placement — top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21024" y="29626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84064" y="29626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3467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Placement — mid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21024" y="33467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84064" y="33467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730752"/>
            <a:ext cx="5669280" cy="384048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" y="37307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Spotlight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21024" y="37307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84064" y="37307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$2,750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" y="4114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Deal Feature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21024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84064" y="4114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498848"/>
            <a:ext cx="5669280" cy="384048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" y="44988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Campaign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21024" y="4498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min.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84064" y="44988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$950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550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SITE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194560"/>
            <a:ext cx="5376672" cy="384048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40" name="Text 38"/>
          <p:cNvSpPr/>
          <p:nvPr/>
        </p:nvSpPr>
        <p:spPr>
          <a:xfrm>
            <a:off x="6501384" y="2194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36024" y="2194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07624" y="219456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2578608"/>
            <a:ext cx="537667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501384" y="25786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Article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336024" y="25786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live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707624" y="257860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355080" y="2962656"/>
            <a:ext cx="5376672" cy="384048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48" name="Text 46"/>
          <p:cNvSpPr/>
          <p:nvPr/>
        </p:nvSpPr>
        <p:spPr>
          <a:xfrm>
            <a:off x="6501384" y="2962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Hero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336024" y="29626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707624" y="29626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355080" y="3346704"/>
            <a:ext cx="537667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501384" y="33467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Sponsorship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9336024" y="33467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707624" y="334670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355080" y="3730752"/>
            <a:ext cx="5376672" cy="384048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56" name="Text 54"/>
          <p:cNvSpPr/>
          <p:nvPr/>
        </p:nvSpPr>
        <p:spPr>
          <a:xfrm>
            <a:off x="6501384" y="3730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Native ROS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336024" y="3730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0707624" y="373075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355080" y="4114800"/>
            <a:ext cx="5376672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501384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Content Hub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9336024" y="4114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0707624" y="41148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$12,000+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355080" y="4498848"/>
            <a:ext cx="5376672" cy="384048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4" name="Text 62"/>
          <p:cNvSpPr/>
          <p:nvPr/>
        </p:nvSpPr>
        <p:spPr>
          <a:xfrm>
            <a:off x="6501384" y="4498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Newsletter→Site Retargeting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336024" y="44988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10707624" y="4498848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57200" y="5029200"/>
            <a:ext cx="11277295" cy="1097280"/>
          </a:xfrm>
          <a:prstGeom prst="rect">
            <a:avLst/>
          </a:prstGeom>
          <a:solidFill>
            <a:srgbClr val="0E2F42"/>
          </a:solidFill>
          <a:ln/>
        </p:spPr>
      </p:sp>
      <p:sp>
        <p:nvSpPr>
          <p:cNvPr id="68" name="Shape 66"/>
          <p:cNvSpPr/>
          <p:nvPr/>
        </p:nvSpPr>
        <p:spPr>
          <a:xfrm>
            <a:off x="457200" y="5029200"/>
            <a:ext cx="64008" cy="109728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69" name="Text 67"/>
          <p:cNvSpPr/>
          <p:nvPr/>
        </p:nvSpPr>
        <p:spPr>
          <a:xfrm>
            <a:off x="777240" y="5212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77240" y="5486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 off multi-flight and quarterly commitments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4434840" y="5212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434840" y="5486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 article creative produced in-house, included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8092440" y="5212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8092440" y="5486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exclusivity available on request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brief to live in two weeks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low-friction process — because travel windows don't wait for long approval cycles.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1277295" cy="713232"/>
          </a:xfrm>
          <a:prstGeom prst="rect">
            <a:avLst/>
          </a:prstGeom>
          <a:solidFill>
            <a:srgbClr val="F0EBE3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685800" cy="7132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965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196596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34840" y="20391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share the objective, target traveler and flight dates. We come back with a recommended segment and placement mix.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685800" cy="71323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8892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7889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&amp; Book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278892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286207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confirm inventory, lock dates, and issue the IO. Segment sizes are confirmed before you commit.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77295" cy="713232"/>
          </a:xfrm>
          <a:prstGeom prst="rect">
            <a:avLst/>
          </a:prstGeom>
          <a:solidFill>
            <a:srgbClr val="F0EBE3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11880"/>
            <a:ext cx="685800" cy="71323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1188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08960" y="361188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34840" y="368503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studio produces native copy, article drafts and creative for your approval. One round of revisions included.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34840"/>
            <a:ext cx="685800" cy="71323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348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4348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108960" y="44348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450799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 go live. Deep links and tracking are QA'd before send so nothing is lost at the click.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5257800"/>
            <a:ext cx="11277295" cy="713232"/>
          </a:xfrm>
          <a:prstGeom prst="rect">
            <a:avLst/>
          </a:prstGeom>
          <a:solidFill>
            <a:srgbClr val="F0EBE3"/>
          </a:solidFill>
          <a:ln w="6350">
            <a:solidFill>
              <a:srgbClr val="E0DA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57800"/>
            <a:ext cx="685800" cy="7132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25780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1600" y="52578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108960" y="52578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34840" y="533095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reporting per placement, plus a post-campaign readout with recommendations for the next flight.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6144768"/>
            <a:ext cx="11277295" cy="0"/>
          </a:xfrm>
          <a:prstGeom prst="rect">
            <a:avLst/>
          </a:prstGeom>
          <a:solidFill>
            <a:srgbClr val="E0DAD1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F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 back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that answers the only question that matters: did it move travelers toward booking?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E0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88336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2688336" cy="5029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487168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88920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and delivered volume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" y="3337560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size confirmation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" y="3886200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by placement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" y="4434840"/>
            <a:ext cx="82296" cy="82296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Viewability (display)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28416" y="1920240"/>
            <a:ext cx="2688336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28416" y="1920240"/>
            <a:ext cx="2688336" cy="50292"/>
          </a:xfrm>
          <a:prstGeom prst="rect">
            <a:avLst/>
          </a:prstGeom>
          <a:solidFill>
            <a:srgbClr val="0D9B76"/>
          </a:solidFill>
          <a:ln/>
        </p:spPr>
      </p:sp>
      <p:sp>
        <p:nvSpPr>
          <p:cNvPr id="23" name="Text 21"/>
          <p:cNvSpPr/>
          <p:nvPr/>
        </p:nvSpPr>
        <p:spPr>
          <a:xfrm>
            <a:off x="3529584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D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29584" y="2487168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7872" y="2788920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26" name="Text 24"/>
          <p:cNvSpPr/>
          <p:nvPr/>
        </p:nvSpPr>
        <p:spPr>
          <a:xfrm>
            <a:off x="3739896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vs. list benchmark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47872" y="3337560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28" name="Text 26"/>
          <p:cNvSpPr/>
          <p:nvPr/>
        </p:nvSpPr>
        <p:spPr>
          <a:xfrm>
            <a:off x="3739896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and CTR by unit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47872" y="3886200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0" name="Text 28"/>
          <p:cNvSpPr/>
          <p:nvPr/>
        </p:nvSpPr>
        <p:spPr>
          <a:xfrm>
            <a:off x="3739896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reads and dwell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47872" y="4434840"/>
            <a:ext cx="82296" cy="82296"/>
          </a:xfrm>
          <a:prstGeom prst="ellipse">
            <a:avLst/>
          </a:prstGeom>
          <a:solidFill>
            <a:srgbClr val="0D9B76"/>
          </a:solidFill>
          <a:ln/>
        </p:spPr>
      </p:sp>
      <p:sp>
        <p:nvSpPr>
          <p:cNvPr id="32" name="Text 30"/>
          <p:cNvSpPr/>
          <p:nvPr/>
        </p:nvSpPr>
        <p:spPr>
          <a:xfrm>
            <a:off x="3739896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depth on hubs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99632" y="1920240"/>
            <a:ext cx="2688336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9632" y="1920240"/>
            <a:ext cx="2688336" cy="50292"/>
          </a:xfrm>
          <a:prstGeom prst="rect">
            <a:avLst/>
          </a:prstGeom>
          <a:solidFill>
            <a:srgbClr val="C4703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2487168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788920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38" name="Text 36"/>
          <p:cNvSpPr/>
          <p:nvPr/>
        </p:nvSpPr>
        <p:spPr>
          <a:xfrm>
            <a:off x="6611112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to your site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19088" y="3337560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40" name="Text 38"/>
          <p:cNvSpPr/>
          <p:nvPr/>
        </p:nvSpPr>
        <p:spPr>
          <a:xfrm>
            <a:off x="6611112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and affiliate clicks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19088" y="3886200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42" name="Text 40"/>
          <p:cNvSpPr/>
          <p:nvPr/>
        </p:nvSpPr>
        <p:spPr>
          <a:xfrm>
            <a:off x="661111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via your pixel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19088" y="4434840"/>
            <a:ext cx="82296" cy="82296"/>
          </a:xfrm>
          <a:prstGeom prst="ellipse">
            <a:avLst/>
          </a:prstGeom>
          <a:solidFill>
            <a:srgbClr val="C4703E"/>
          </a:solidFill>
          <a:ln/>
        </p:spPr>
      </p:sp>
      <p:sp>
        <p:nvSpPr>
          <p:cNvPr id="44" name="Text 42"/>
          <p:cNvSpPr/>
          <p:nvPr/>
        </p:nvSpPr>
        <p:spPr>
          <a:xfrm>
            <a:off x="6611112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Post-click behavior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70848" y="1920240"/>
            <a:ext cx="2688336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070848" y="1920240"/>
            <a:ext cx="2688336" cy="50292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47" name="Text 45"/>
          <p:cNvSpPr/>
          <p:nvPr/>
        </p:nvSpPr>
        <p:spPr>
          <a:xfrm>
            <a:off x="9272016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272016" y="2487168"/>
            <a:ext cx="2286000" cy="0"/>
          </a:xfrm>
          <a:prstGeom prst="line">
            <a:avLst/>
          </a:prstGeom>
          <a:noFill/>
          <a:ln w="12700">
            <a:solidFill>
              <a:srgbClr val="E0DA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90304" y="2788920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50" name="Text 48"/>
          <p:cNvSpPr/>
          <p:nvPr/>
        </p:nvSpPr>
        <p:spPr>
          <a:xfrm>
            <a:off x="9482328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segments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290304" y="3337560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52" name="Text 50"/>
          <p:cNvSpPr/>
          <p:nvPr/>
        </p:nvSpPr>
        <p:spPr>
          <a:xfrm>
            <a:off x="9482328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and subject-line reads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90304" y="3886200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54" name="Text 52"/>
          <p:cNvSpPr/>
          <p:nvPr/>
        </p:nvSpPr>
        <p:spPr>
          <a:xfrm>
            <a:off x="9482328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flight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290304" y="4434840"/>
            <a:ext cx="82296" cy="82296"/>
          </a:xfrm>
          <a:prstGeom prst="ellipse">
            <a:avLst/>
          </a:prstGeom>
          <a:solidFill>
            <a:srgbClr val="F4A124"/>
          </a:solidFill>
          <a:ln/>
        </p:spPr>
      </p:sp>
      <p:sp>
        <p:nvSpPr>
          <p:cNvPr id="56" name="Text 54"/>
          <p:cNvSpPr/>
          <p:nvPr/>
        </p:nvSpPr>
        <p:spPr>
          <a:xfrm>
            <a:off x="9482328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post-campaign readout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5138928"/>
            <a:ext cx="11277295" cy="987552"/>
          </a:xfrm>
          <a:prstGeom prst="rect">
            <a:avLst/>
          </a:prstGeom>
          <a:solidFill>
            <a:srgbClr val="FDEBCB"/>
          </a:solidFill>
          <a:ln/>
        </p:spPr>
      </p:sp>
      <p:sp>
        <p:nvSpPr>
          <p:cNvPr id="58" name="Text 56"/>
          <p:cNvSpPr/>
          <p:nvPr/>
        </p:nvSpPr>
        <p:spPr>
          <a:xfrm>
            <a:off x="77724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47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safety &amp; transparency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7240" y="55595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sponsored content is clearly labeled, editorially reviewed, and produced to our own standards. No cluttered placements, no misleading creative, no surprises for your brand or our readers.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502920" cy="41148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93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DESTINATION.COM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reasons this is a must-buy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7295" cy="822960"/>
          </a:xfrm>
          <a:prstGeom prst="rect">
            <a:avLst/>
          </a:prstGeom>
          <a:solidFill>
            <a:srgbClr val="081F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Intent, not inference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640" y="1600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model travel interest from browsing exhaust. Our readers came to us to plan a trip.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11277295" cy="822960"/>
          </a:xfrm>
          <a:prstGeom prst="rect">
            <a:avLst/>
          </a:prstGeom>
          <a:solidFill>
            <a:srgbClr val="081F2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3288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53288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First-party and owned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20640" y="253288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list, the site and the data are ours. No cookie deprecation risk, no platform dependency.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11277295" cy="822960"/>
          </a:xfrm>
          <a:prstGeom prst="rect">
            <a:avLst/>
          </a:prstGeom>
          <a:solidFill>
            <a:srgbClr val="081F2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65576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Full-journey coverage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640" y="346557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through post-trip, in one buy, against the same reader — sequenced, not scattered.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398264"/>
            <a:ext cx="11277295" cy="822960"/>
          </a:xfrm>
          <a:prstGeom prst="rect">
            <a:avLst/>
          </a:prstGeom>
          <a:solidFill>
            <a:srgbClr val="081F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398264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439826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credibility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0" y="4398264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 sponsored work here because readers trust the recommendations around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330952"/>
            <a:ext cx="11277295" cy="822960"/>
          </a:xfrm>
          <a:prstGeom prst="rect">
            <a:avLst/>
          </a:prstGeom>
          <a:solidFill>
            <a:srgbClr val="081F2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33095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53309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measured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20640" y="533095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Per-placement reporting, deep-link tracking, and a readout that tells you what to buy next.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0E4D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DESTINATION.COM  ·  MEDIA KIT  ·  Q4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2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us who you want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reach.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3749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the destination, the traveler and the dates. We'll come back with a segment, a placement plan and a rate — usually within two business days.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4892040"/>
            <a:ext cx="9601200" cy="1005840"/>
          </a:xfrm>
          <a:prstGeom prst="rect">
            <a:avLst/>
          </a:prstGeom>
          <a:solidFill>
            <a:srgbClr val="0E2F42"/>
          </a:solidFill>
          <a:ln w="9525">
            <a:solidFill>
              <a:srgbClr val="F4A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5029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&amp; Partnerships  ·  PGAM Media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5376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ppatel@pgammedia.com  ·  destination.com  ·  pgammedia.com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820095" y="6483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PGAM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Destination.com Media Kit</dc:title>
  <dc:subject>PptxGenJS Presentation</dc:subject>
  <dc:creator>PGAM Media</dc:creator>
  <cp:lastModifiedBy>PGAM Media</cp:lastModifiedBy>
  <cp:revision>1</cp:revision>
  <dcterms:created xsi:type="dcterms:W3CDTF">2026-08-17T16:36:22Z</dcterms:created>
  <dcterms:modified xsi:type="dcterms:W3CDTF">2026-08-17T16:36:22Z</dcterms:modified>
</cp:coreProperties>
</file>